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7" r:id="rId13"/>
    <p:sldId id="266" r:id="rId14"/>
    <p:sldId id="273" r:id="rId15"/>
    <p:sldId id="274" r:id="rId16"/>
    <p:sldId id="276" r:id="rId17"/>
    <p:sldId id="277" r:id="rId18"/>
    <p:sldId id="269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7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8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398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Proyecto Final TodoAquí, portada y resumen ejecutivo.
- Sitio TodoAquí proporcionado por la usuaria para referencia visual de color y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Lineamientos para presentación del proyecto: etapas, tiempos recomendados y temas requeridos.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resumen ejecutivo, evidencia del proyecto y estado Alpha.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contexto y problema; objetivo general; solución propuesta.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alcance funcional y secuencia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requerimientos funcionales RF01-RF10 y requerimientos no funcionales RNF01-RNF06.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mockups, referencias, versión Alpha y elementos de interfaz recomendados.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arquitectura general y tabla de tecnologías.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diseño de base de datos relacional, 17 tablas, dominios y propósito.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diagrama ER y modelo NoSQL complementario para interacciones.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organización del backend, recursos principales de API y seguridad implementada.
- Lineamientos: explicar configuración básica, estructura, MVC, rutas y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Guía de confirmación de pedido: objetivo, flujo con JavaScript, PHP, MySQL, PHPMailer y recomendaciones de integración.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casos y rutinas de prueba; comandos de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
- Informe TodoAquí: conclusiones y guion recomendado para la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sv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1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6.svg"/><Relationship Id="rId10" Type="http://schemas.openxmlformats.org/officeDocument/2006/relationships/image" Target="../media/image16.png"/><Relationship Id="rId4" Type="http://schemas.openxmlformats.org/officeDocument/2006/relationships/image" Target="../media/image11.sv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microsoft.com/office/2007/relationships/hdphoto" Target="../media/hdphoto2.wdp"/><Relationship Id="rId3" Type="http://schemas.openxmlformats.org/officeDocument/2006/relationships/image" Target="../media/image1.svg"/><Relationship Id="rId7" Type="http://schemas.openxmlformats.org/officeDocument/2006/relationships/image" Target="../media/image27.sv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microsoft.com/office/2007/relationships/hdphoto" Target="../media/hdphoto1.wdp"/><Relationship Id="rId5" Type="http://schemas.openxmlformats.org/officeDocument/2006/relationships/image" Target="../media/image25.svg"/><Relationship Id="rId10" Type="http://schemas.openxmlformats.org/officeDocument/2006/relationships/image" Target="../media/image29.png"/><Relationship Id="rId4" Type="http://schemas.openxmlformats.org/officeDocument/2006/relationships/image" Target="../media/image3.svg"/><Relationship Id="rId9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6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59436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2416" y="6126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980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CFE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Presentación Proyecto Final</a:t>
            </a:r>
            <a:endParaRPr lang="es-GT" sz="1300" noProof="0" dirty="0"/>
          </a:p>
        </p:txBody>
      </p:sp>
      <p:sp>
        <p:nvSpPr>
          <p:cNvPr id="5" name="Text 2"/>
          <p:cNvSpPr/>
          <p:nvPr/>
        </p:nvSpPr>
        <p:spPr>
          <a:xfrm>
            <a:off x="713232" y="197510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41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endParaRPr lang="es-GT" sz="4100" noProof="0" dirty="0"/>
          </a:p>
        </p:txBody>
      </p:sp>
      <p:sp>
        <p:nvSpPr>
          <p:cNvPr id="6" name="Text 3"/>
          <p:cNvSpPr/>
          <p:nvPr/>
        </p:nvSpPr>
        <p:spPr>
          <a:xfrm>
            <a:off x="749808" y="2697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7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Aplicación web </a:t>
            </a:r>
            <a:r>
              <a:rPr lang="es-GT" sz="1700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ecommerce</a:t>
            </a:r>
            <a:r>
              <a:rPr lang="es-GT" sz="17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r>
              <a:rPr lang="es-GT" sz="1700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</a:t>
            </a:r>
            <a:endParaRPr lang="es-GT" sz="1700" noProof="0" dirty="0"/>
          </a:p>
        </p:txBody>
      </p:sp>
      <p:sp>
        <p:nvSpPr>
          <p:cNvPr id="7" name="Text 4"/>
          <p:cNvSpPr/>
          <p:nvPr/>
        </p:nvSpPr>
        <p:spPr>
          <a:xfrm>
            <a:off x="749808" y="31363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100" noProof="0" dirty="0">
                <a:solidFill>
                  <a:srgbClr val="D9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 de una solución </a:t>
            </a:r>
            <a:r>
              <a:rPr lang="es-GT" sz="1100" noProof="0" dirty="0" err="1">
                <a:solidFill>
                  <a:srgbClr val="D9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</a:t>
            </a:r>
            <a:r>
              <a:rPr lang="es-GT" sz="1100" noProof="0" dirty="0">
                <a:solidFill>
                  <a:srgbClr val="D9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</a:t>
            </a:r>
            <a:r>
              <a:rPr lang="es-GT" sz="1100" noProof="0" dirty="0" err="1">
                <a:solidFill>
                  <a:srgbClr val="D9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r>
              <a:rPr lang="es-GT" sz="1100" noProof="0" dirty="0">
                <a:solidFill>
                  <a:srgbClr val="D9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 base de datos</a:t>
            </a:r>
            <a:endParaRPr lang="es-GT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758952" y="40690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960120" y="431596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10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Oscar Estuardo Ardon Castillo  •  Alba Gabriela Ortega</a:t>
            </a:r>
            <a:endParaRPr lang="es-GT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960120" y="4599432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8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INTECAP Centro </a:t>
            </a:r>
            <a:r>
              <a:rPr lang="es-GT" sz="88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TICs</a:t>
            </a:r>
            <a:r>
              <a:rPr lang="es-GT" sz="88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Desarrollador </a:t>
            </a:r>
            <a:r>
              <a:rPr lang="es-GT" sz="88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</a:t>
            </a:r>
            <a:r>
              <a:rPr lang="es-GT" sz="88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Octubre 2026</a:t>
            </a:r>
            <a:endParaRPr lang="es-GT" sz="880" noProof="0" dirty="0"/>
          </a:p>
        </p:txBody>
      </p:sp>
      <p:sp>
        <p:nvSpPr>
          <p:cNvPr id="11" name="Shape 8"/>
          <p:cNvSpPr/>
          <p:nvPr/>
        </p:nvSpPr>
        <p:spPr>
          <a:xfrm>
            <a:off x="6629400" y="100584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1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2" name="Text 28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3" name="Text 29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Portada</a:t>
            </a:r>
            <a:endParaRPr lang="es-GT" sz="750" noProof="0" dirty="0"/>
          </a:p>
        </p:txBody>
      </p:sp>
      <p:sp>
        <p:nvSpPr>
          <p:cNvPr id="34" name="Text 30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s-GT" sz="800" noProof="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C8D2A340-6F9F-5F66-F76A-C556839F7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988" y="1026498"/>
            <a:ext cx="4733144" cy="44849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Guía de exposición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ESTRUCTURA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Ruta de presentación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Basada en las dos etapas de evaluación: problema y solución, desarrollo y demostración.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85800" y="201168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86868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s-GT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8686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Planteamiento</a:t>
            </a:r>
            <a:endParaRPr lang="es-GT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868680" y="3182112"/>
            <a:ext cx="15361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GT" sz="920" noProof="0" dirty="0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Problema, objetivo, solución, alcance y requerimientos</a:t>
            </a:r>
            <a:endParaRPr lang="es-GT" sz="920" noProof="0" dirty="0"/>
          </a:p>
        </p:txBody>
      </p:sp>
      <p:sp>
        <p:nvSpPr>
          <p:cNvPr id="12" name="Shape 9"/>
          <p:cNvSpPr/>
          <p:nvPr/>
        </p:nvSpPr>
        <p:spPr>
          <a:xfrm>
            <a:off x="2926080" y="201168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3" name="Text 10"/>
          <p:cNvSpPr/>
          <p:nvPr/>
        </p:nvSpPr>
        <p:spPr>
          <a:xfrm>
            <a:off x="310896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s-GT" sz="1300" noProof="0" dirty="0"/>
          </a:p>
        </p:txBody>
      </p:sp>
      <p:sp>
        <p:nvSpPr>
          <p:cNvPr id="14" name="Text 11"/>
          <p:cNvSpPr/>
          <p:nvPr/>
        </p:nvSpPr>
        <p:spPr>
          <a:xfrm>
            <a:off x="310896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</a:t>
            </a:r>
            <a:endParaRPr lang="es-GT" sz="1400" noProof="0" dirty="0"/>
          </a:p>
        </p:txBody>
      </p:sp>
      <p:sp>
        <p:nvSpPr>
          <p:cNvPr id="15" name="Text 12"/>
          <p:cNvSpPr/>
          <p:nvPr/>
        </p:nvSpPr>
        <p:spPr>
          <a:xfrm>
            <a:off x="3108960" y="3182112"/>
            <a:ext cx="15361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GT" sz="92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Wireframes</a:t>
            </a:r>
            <a:r>
              <a:rPr lang="es-GT" sz="92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mockups, modelo relacional y NoSQL</a:t>
            </a:r>
            <a:endParaRPr lang="es-GT" sz="920" noProof="0" dirty="0"/>
          </a:p>
        </p:txBody>
      </p:sp>
      <p:sp>
        <p:nvSpPr>
          <p:cNvPr id="16" name="Shape 13"/>
          <p:cNvSpPr/>
          <p:nvPr/>
        </p:nvSpPr>
        <p:spPr>
          <a:xfrm>
            <a:off x="5166360" y="201168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4"/>
          <p:cNvSpPr/>
          <p:nvPr/>
        </p:nvSpPr>
        <p:spPr>
          <a:xfrm>
            <a:off x="534924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s-GT" sz="1300" noProof="0" dirty="0"/>
          </a:p>
        </p:txBody>
      </p:sp>
      <p:sp>
        <p:nvSpPr>
          <p:cNvPr id="18" name="Text 15"/>
          <p:cNvSpPr/>
          <p:nvPr/>
        </p:nvSpPr>
        <p:spPr>
          <a:xfrm>
            <a:off x="534924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</a:t>
            </a:r>
            <a:endParaRPr lang="es-GT" sz="1400" noProof="0" dirty="0"/>
          </a:p>
        </p:txBody>
      </p:sp>
      <p:sp>
        <p:nvSpPr>
          <p:cNvPr id="19" name="Text 16"/>
          <p:cNvSpPr/>
          <p:nvPr/>
        </p:nvSpPr>
        <p:spPr>
          <a:xfrm>
            <a:off x="5349240" y="3182112"/>
            <a:ext cx="15361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GT" sz="92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Arquitectura, tecnologías, API, MVC y seguridad</a:t>
            </a:r>
            <a:endParaRPr lang="es-GT" sz="920" noProof="0" dirty="0"/>
          </a:p>
        </p:txBody>
      </p:sp>
      <p:sp>
        <p:nvSpPr>
          <p:cNvPr id="20" name="Shape 17"/>
          <p:cNvSpPr/>
          <p:nvPr/>
        </p:nvSpPr>
        <p:spPr>
          <a:xfrm>
            <a:off x="7406640" y="201168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Text 18"/>
          <p:cNvSpPr/>
          <p:nvPr/>
        </p:nvSpPr>
        <p:spPr>
          <a:xfrm>
            <a:off x="758952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s-GT" sz="1300" noProof="0" dirty="0"/>
          </a:p>
        </p:txBody>
      </p:sp>
      <p:sp>
        <p:nvSpPr>
          <p:cNvPr id="22" name="Text 19"/>
          <p:cNvSpPr/>
          <p:nvPr/>
        </p:nvSpPr>
        <p:spPr>
          <a:xfrm>
            <a:off x="758952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Demostración</a:t>
            </a:r>
            <a:endParaRPr lang="es-GT" sz="1400" noProof="0" dirty="0"/>
          </a:p>
        </p:txBody>
      </p:sp>
      <p:sp>
        <p:nvSpPr>
          <p:cNvPr id="23" name="Text 20"/>
          <p:cNvSpPr/>
          <p:nvPr/>
        </p:nvSpPr>
        <p:spPr>
          <a:xfrm>
            <a:off x="7589520" y="3182112"/>
            <a:ext cx="15361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GT" sz="92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Registro/login, catálogo, carrito, </a:t>
            </a:r>
            <a:r>
              <a:rPr lang="es-GT" sz="92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92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base de datos</a:t>
            </a:r>
            <a:endParaRPr lang="es-GT" sz="920" noProof="0" dirty="0"/>
          </a:p>
        </p:txBody>
      </p:sp>
      <p:sp>
        <p:nvSpPr>
          <p:cNvPr id="24" name="Shape 21"/>
          <p:cNvSpPr/>
          <p:nvPr/>
        </p:nvSpPr>
        <p:spPr>
          <a:xfrm>
            <a:off x="9646920" y="201168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Text 22"/>
          <p:cNvSpPr/>
          <p:nvPr/>
        </p:nvSpPr>
        <p:spPr>
          <a:xfrm>
            <a:off x="9829800" y="2240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s-GT" sz="1300" noProof="0" dirty="0"/>
          </a:p>
        </p:txBody>
      </p:sp>
      <p:sp>
        <p:nvSpPr>
          <p:cNvPr id="26" name="Text 23"/>
          <p:cNvSpPr/>
          <p:nvPr/>
        </p:nvSpPr>
        <p:spPr>
          <a:xfrm>
            <a:off x="982980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Pruebas</a:t>
            </a:r>
            <a:endParaRPr lang="es-GT" sz="1400" noProof="0" dirty="0"/>
          </a:p>
        </p:txBody>
      </p:sp>
      <p:sp>
        <p:nvSpPr>
          <p:cNvPr id="27" name="Text 24"/>
          <p:cNvSpPr/>
          <p:nvPr/>
        </p:nvSpPr>
        <p:spPr>
          <a:xfrm>
            <a:off x="9829800" y="3182112"/>
            <a:ext cx="15361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GT" sz="92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Rutinas de prueba, buenas prácticas y cierre</a:t>
            </a:r>
            <a:endParaRPr lang="es-GT" sz="920" noProof="0" dirty="0"/>
          </a:p>
        </p:txBody>
      </p:sp>
      <p:sp>
        <p:nvSpPr>
          <p:cNvPr id="31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2" name="Text 28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3" name="Text 29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Agenda</a:t>
            </a:r>
            <a:endParaRPr lang="es-GT" sz="750" noProof="0" dirty="0"/>
          </a:p>
        </p:txBody>
      </p:sp>
      <p:sp>
        <p:nvSpPr>
          <p:cNvPr id="34" name="Text 30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Resumen ejecutivo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PROYECTO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¿Qué es </a:t>
            </a:r>
            <a:r>
              <a:rPr lang="es-GT" sz="24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?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tienda en línea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 centraliza catálogo, usuarios, carrito,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gestión de datos.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749808" y="1965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s-GT" sz="1800" noProof="0" dirty="0"/>
          </a:p>
        </p:txBody>
      </p:sp>
      <p:sp>
        <p:nvSpPr>
          <p:cNvPr id="10" name="Text 7"/>
          <p:cNvSpPr/>
          <p:nvPr/>
        </p:nvSpPr>
        <p:spPr>
          <a:xfrm>
            <a:off x="749808" y="22860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tablas SQL</a:t>
            </a:r>
            <a:endParaRPr lang="es-GT" sz="750" noProof="0" dirty="0"/>
          </a:p>
        </p:txBody>
      </p:sp>
      <p:sp>
        <p:nvSpPr>
          <p:cNvPr id="11" name="Shape 8"/>
          <p:cNvSpPr/>
          <p:nvPr/>
        </p:nvSpPr>
        <p:spPr>
          <a:xfrm>
            <a:off x="2331720" y="18745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Text 9"/>
          <p:cNvSpPr/>
          <p:nvPr/>
        </p:nvSpPr>
        <p:spPr>
          <a:xfrm>
            <a:off x="2441448" y="1965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s-GT" sz="1800" noProof="0" dirty="0"/>
          </a:p>
        </p:txBody>
      </p:sp>
      <p:sp>
        <p:nvSpPr>
          <p:cNvPr id="13" name="Text 10"/>
          <p:cNvSpPr/>
          <p:nvPr/>
        </p:nvSpPr>
        <p:spPr>
          <a:xfrm>
            <a:off x="2441448" y="22860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páginas </a:t>
            </a: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</a:t>
            </a:r>
            <a:endParaRPr lang="es-GT" sz="750" noProof="0" dirty="0"/>
          </a:p>
        </p:txBody>
      </p:sp>
      <p:sp>
        <p:nvSpPr>
          <p:cNvPr id="14" name="Shape 11"/>
          <p:cNvSpPr/>
          <p:nvPr/>
        </p:nvSpPr>
        <p:spPr>
          <a:xfrm>
            <a:off x="4023360" y="187452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Text 12"/>
          <p:cNvSpPr/>
          <p:nvPr/>
        </p:nvSpPr>
        <p:spPr>
          <a:xfrm>
            <a:off x="4133088" y="19659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s-GT" sz="1800" noProof="0" dirty="0"/>
          </a:p>
        </p:txBody>
      </p:sp>
      <p:sp>
        <p:nvSpPr>
          <p:cNvPr id="16" name="Text 13"/>
          <p:cNvSpPr/>
          <p:nvPr/>
        </p:nvSpPr>
        <p:spPr>
          <a:xfrm>
            <a:off x="4133088" y="22860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componentes</a:t>
            </a:r>
            <a:endParaRPr lang="es-GT" sz="750" noProof="0" dirty="0"/>
          </a:p>
        </p:txBody>
      </p:sp>
      <p:sp>
        <p:nvSpPr>
          <p:cNvPr id="17" name="Shape 14"/>
          <p:cNvSpPr/>
          <p:nvPr/>
        </p:nvSpPr>
        <p:spPr>
          <a:xfrm>
            <a:off x="640080" y="280720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8" name="Text 15"/>
          <p:cNvSpPr/>
          <p:nvPr/>
        </p:nvSpPr>
        <p:spPr>
          <a:xfrm>
            <a:off x="749808" y="28986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s-GT" sz="1800" noProof="0" dirty="0"/>
          </a:p>
        </p:txBody>
      </p:sp>
      <p:sp>
        <p:nvSpPr>
          <p:cNvPr id="19" name="Text 16"/>
          <p:cNvSpPr/>
          <p:nvPr/>
        </p:nvSpPr>
        <p:spPr>
          <a:xfrm>
            <a:off x="749808" y="32186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modelos PHP</a:t>
            </a:r>
            <a:endParaRPr lang="es-GT" sz="750" noProof="0" dirty="0"/>
          </a:p>
        </p:txBody>
      </p:sp>
      <p:sp>
        <p:nvSpPr>
          <p:cNvPr id="20" name="Shape 17"/>
          <p:cNvSpPr/>
          <p:nvPr/>
        </p:nvSpPr>
        <p:spPr>
          <a:xfrm>
            <a:off x="2331720" y="280720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Text 18"/>
          <p:cNvSpPr/>
          <p:nvPr/>
        </p:nvSpPr>
        <p:spPr>
          <a:xfrm>
            <a:off x="2441448" y="28986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s-GT" sz="1800" noProof="0" dirty="0"/>
          </a:p>
        </p:txBody>
      </p:sp>
      <p:sp>
        <p:nvSpPr>
          <p:cNvPr id="22" name="Text 19"/>
          <p:cNvSpPr/>
          <p:nvPr/>
        </p:nvSpPr>
        <p:spPr>
          <a:xfrm>
            <a:off x="2441448" y="32186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controladores</a:t>
            </a:r>
            <a:endParaRPr lang="es-GT" sz="750" noProof="0" dirty="0"/>
          </a:p>
        </p:txBody>
      </p:sp>
      <p:sp>
        <p:nvSpPr>
          <p:cNvPr id="23" name="Shape 20"/>
          <p:cNvSpPr/>
          <p:nvPr/>
        </p:nvSpPr>
        <p:spPr>
          <a:xfrm>
            <a:off x="4023360" y="2807208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4" name="Text 21"/>
          <p:cNvSpPr/>
          <p:nvPr/>
        </p:nvSpPr>
        <p:spPr>
          <a:xfrm>
            <a:off x="4133088" y="289864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8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s-GT" sz="1800" noProof="0" dirty="0"/>
          </a:p>
        </p:txBody>
      </p:sp>
      <p:sp>
        <p:nvSpPr>
          <p:cNvPr id="25" name="Text 22"/>
          <p:cNvSpPr/>
          <p:nvPr/>
        </p:nvSpPr>
        <p:spPr>
          <a:xfrm>
            <a:off x="4133088" y="321868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grupos API</a:t>
            </a:r>
            <a:endParaRPr lang="es-GT" sz="750" noProof="0" dirty="0"/>
          </a:p>
        </p:txBody>
      </p:sp>
      <p:sp>
        <p:nvSpPr>
          <p:cNvPr id="26" name="Shape 23"/>
          <p:cNvSpPr/>
          <p:nvPr/>
        </p:nvSpPr>
        <p:spPr>
          <a:xfrm>
            <a:off x="6035040" y="169164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7" name="Shape 24"/>
          <p:cNvSpPr/>
          <p:nvPr/>
        </p:nvSpPr>
        <p:spPr>
          <a:xfrm>
            <a:off x="6355080" y="1965960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3952" y="2084832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995160" y="19751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 del sistema</a:t>
            </a:r>
            <a:endParaRPr lang="es-GT" sz="1500" noProof="0" dirty="0"/>
          </a:p>
        </p:txBody>
      </p:sp>
      <p:sp>
        <p:nvSpPr>
          <p:cNvPr id="30" name="Text 26"/>
          <p:cNvSpPr/>
          <p:nvPr/>
        </p:nvSpPr>
        <p:spPr>
          <a:xfrm>
            <a:off x="6400800" y="2578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05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 de productos con búsqueda, categorías e imágenes</a:t>
            </a:r>
            <a:endParaRPr lang="es-GT" sz="1050" noProof="0" dirty="0"/>
          </a:p>
        </p:txBody>
      </p:sp>
      <p:sp>
        <p:nvSpPr>
          <p:cNvPr id="31" name="Text 27"/>
          <p:cNvSpPr/>
          <p:nvPr/>
        </p:nvSpPr>
        <p:spPr>
          <a:xfrm>
            <a:off x="6400800" y="2971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05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 e inicio de sesión para clientes</a:t>
            </a:r>
            <a:endParaRPr lang="es-GT" sz="1050" noProof="0" dirty="0"/>
          </a:p>
        </p:txBody>
      </p:sp>
      <p:sp>
        <p:nvSpPr>
          <p:cNvPr id="32" name="Text 28"/>
          <p:cNvSpPr/>
          <p:nvPr/>
        </p:nvSpPr>
        <p:spPr>
          <a:xfrm>
            <a:off x="6400800" y="33649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05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Carrito, </a:t>
            </a:r>
            <a:r>
              <a:rPr lang="es-GT" sz="105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órdenes y actualización de inventario</a:t>
            </a:r>
            <a:endParaRPr lang="es-GT" sz="1050" noProof="0" dirty="0"/>
          </a:p>
        </p:txBody>
      </p:sp>
      <p:sp>
        <p:nvSpPr>
          <p:cNvPr id="33" name="Text 29"/>
          <p:cNvSpPr/>
          <p:nvPr/>
        </p:nvSpPr>
        <p:spPr>
          <a:xfrm>
            <a:off x="6400800" y="3758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05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r>
              <a:rPr lang="es-GT" sz="105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PHP con </a:t>
            </a:r>
            <a:r>
              <a:rPr lang="es-GT" sz="105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endpoints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JSON y base transaccional </a:t>
            </a:r>
            <a:r>
              <a:rPr lang="es-GT" sz="105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endParaRPr lang="es-GT" sz="1050" noProof="0" dirty="0"/>
          </a:p>
        </p:txBody>
      </p:sp>
      <p:sp>
        <p:nvSpPr>
          <p:cNvPr id="34" name="Text 30"/>
          <p:cNvSpPr/>
          <p:nvPr/>
        </p:nvSpPr>
        <p:spPr>
          <a:xfrm>
            <a:off x="6400800" y="41513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05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• </a:t>
            </a:r>
            <a:r>
              <a:rPr lang="es-GT" sz="10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NoSQL complementario para gestión de reseñas</a:t>
            </a:r>
            <a:endParaRPr lang="es-GT" sz="1050" noProof="0" dirty="0"/>
          </a:p>
        </p:txBody>
      </p:sp>
      <p:sp>
        <p:nvSpPr>
          <p:cNvPr id="38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9" name="Text 34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40" name="Text 35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Resumen</a:t>
            </a:r>
            <a:endParaRPr lang="es-GT" sz="750" noProof="0" dirty="0"/>
          </a:p>
        </p:txBody>
      </p:sp>
      <p:sp>
        <p:nvSpPr>
          <p:cNvPr id="41" name="Text 3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s-GT" sz="800" noProof="0" dirty="0"/>
          </a:p>
        </p:txBody>
      </p:sp>
      <p:pic>
        <p:nvPicPr>
          <p:cNvPr id="35" name="Imagen 34" descr="https://cdn-icons-png.flaticon.com/512/2289/2289316.png">
            <a:extLst>
              <a:ext uri="{FF2B5EF4-FFF2-40B4-BE49-F238E27FC236}">
                <a16:creationId xmlns:a16="http://schemas.microsoft.com/office/drawing/2014/main" id="{D486DB40-A4C4-AC23-5B24-96E6DB0236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624" y="2054504"/>
            <a:ext cx="353263" cy="353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Etapa 1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PROBLEMA Y SOLUCIÓN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reto que resuelve la tienda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aplicación unifica datos de productos, clientes y ventas para reducir dispersión y errores.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Shape 6"/>
          <p:cNvSpPr/>
          <p:nvPr/>
        </p:nvSpPr>
        <p:spPr>
          <a:xfrm>
            <a:off x="868680" y="2121408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52" y="224028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2788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Problema</a:t>
            </a:r>
            <a:endParaRPr lang="es-GT" sz="1600" noProof="0" dirty="0"/>
          </a:p>
        </p:txBody>
      </p:sp>
      <p:sp>
        <p:nvSpPr>
          <p:cNvPr id="12" name="Text 8"/>
          <p:cNvSpPr/>
          <p:nvPr/>
        </p:nvSpPr>
        <p:spPr>
          <a:xfrm>
            <a:off x="868680" y="3218688"/>
            <a:ext cx="276148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Funciones separadas dificultan consultar existencias, identificar clientes y registrar compras confiables.</a:t>
            </a:r>
            <a:endParaRPr lang="es-GT" sz="1040" noProof="0" dirty="0"/>
          </a:p>
        </p:txBody>
      </p:sp>
      <p:sp>
        <p:nvSpPr>
          <p:cNvPr id="13" name="Shape 9"/>
          <p:cNvSpPr/>
          <p:nvPr/>
        </p:nvSpPr>
        <p:spPr>
          <a:xfrm>
            <a:off x="438912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Shape 10"/>
          <p:cNvSpPr/>
          <p:nvPr/>
        </p:nvSpPr>
        <p:spPr>
          <a:xfrm>
            <a:off x="4617720" y="2121408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6592" y="2240280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2788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Objetivo general</a:t>
            </a:r>
            <a:endParaRPr lang="es-GT" sz="1600" noProof="0" dirty="0"/>
          </a:p>
        </p:txBody>
      </p:sp>
      <p:sp>
        <p:nvSpPr>
          <p:cNvPr id="17" name="Text 12"/>
          <p:cNvSpPr/>
          <p:nvPr/>
        </p:nvSpPr>
        <p:spPr>
          <a:xfrm>
            <a:off x="4617720" y="3218688"/>
            <a:ext cx="276148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Desarrollar </a:t>
            </a:r>
            <a:r>
              <a:rPr lang="es-GT" sz="104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consultar productos, registrar clientes, autenticarse, gestionar carrito y crear órdenes por API.</a:t>
            </a:r>
            <a:endParaRPr lang="es-GT" sz="1040" noProof="0" dirty="0"/>
          </a:p>
        </p:txBody>
      </p:sp>
      <p:sp>
        <p:nvSpPr>
          <p:cNvPr id="18" name="Shape 13"/>
          <p:cNvSpPr/>
          <p:nvPr/>
        </p:nvSpPr>
        <p:spPr>
          <a:xfrm>
            <a:off x="8138160" y="1828800"/>
            <a:ext cx="3246120" cy="3337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9" name="Shape 14"/>
          <p:cNvSpPr/>
          <p:nvPr/>
        </p:nvSpPr>
        <p:spPr>
          <a:xfrm>
            <a:off x="8366760" y="2121408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5632" y="224028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66760" y="2788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6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Solución implementada</a:t>
            </a:r>
            <a:endParaRPr lang="es-GT" sz="1600" noProof="0" dirty="0"/>
          </a:p>
        </p:txBody>
      </p:sp>
      <p:sp>
        <p:nvSpPr>
          <p:cNvPr id="22" name="Text 16"/>
          <p:cNvSpPr/>
          <p:nvPr/>
        </p:nvSpPr>
        <p:spPr>
          <a:xfrm>
            <a:off x="8366760" y="3218688"/>
            <a:ext cx="276148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just">
              <a:buNone/>
            </a:pP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Interfaz </a:t>
            </a:r>
            <a:r>
              <a:rPr lang="es-GT" sz="104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ecommerce</a:t>
            </a: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responsiva + servicios PHP + persistencia </a:t>
            </a:r>
            <a:r>
              <a:rPr lang="es-GT" sz="104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r>
              <a:rPr lang="es-GT" sz="104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 separación de responsabilidades que puede consultar existencias, comprar y conservar el registro de la orden.</a:t>
            </a:r>
            <a:endParaRPr lang="es-GT" sz="1040" noProof="0" dirty="0"/>
          </a:p>
        </p:txBody>
      </p:sp>
      <p:sp>
        <p:nvSpPr>
          <p:cNvPr id="24" name="Shape 1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Text 18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26" name="Text 19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Etapa 1</a:t>
            </a:r>
            <a:endParaRPr lang="es-GT" sz="750" noProof="0" dirty="0"/>
          </a:p>
        </p:txBody>
      </p:sp>
      <p:sp>
        <p:nvSpPr>
          <p:cNvPr id="27" name="Text 20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s-GT" sz="800" noProof="0" dirty="0"/>
          </a:p>
        </p:txBody>
      </p:sp>
      <p:pic>
        <p:nvPicPr>
          <p:cNvPr id="23" name="Imagen 22" descr="Problema de búsqueda - Iconos gratis de interfaz">
            <a:extLst>
              <a:ext uri="{FF2B5EF4-FFF2-40B4-BE49-F238E27FC236}">
                <a16:creationId xmlns:a16="http://schemas.microsoft.com/office/drawing/2014/main" id="{06D2687F-D4BE-6B73-D9F8-3D8057FE6A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075" y="2216205"/>
            <a:ext cx="331085" cy="331085"/>
          </a:xfrm>
          <a:prstGeom prst="rect">
            <a:avLst/>
          </a:prstGeom>
        </p:spPr>
      </p:pic>
      <p:pic>
        <p:nvPicPr>
          <p:cNvPr id="31" name="Imagen 30" descr="Lista de notas - Iconos gratis de">
            <a:extLst>
              <a:ext uri="{FF2B5EF4-FFF2-40B4-BE49-F238E27FC236}">
                <a16:creationId xmlns:a16="http://schemas.microsoft.com/office/drawing/2014/main" id="{52C6CCCE-99A4-D669-56B3-CD6047E4012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1972" y="2180184"/>
            <a:ext cx="380136" cy="38013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B660BF7-FD27-4F11-CC4D-1CE7334C18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904" y="2130287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Alcance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FUNCIONES CLAVE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Alcance funcional del sistema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cubre el recorrido de compra y tareas administrativas de una tienda en línea.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Shape 6"/>
          <p:cNvSpPr/>
          <p:nvPr/>
        </p:nvSpPr>
        <p:spPr>
          <a:xfrm>
            <a:off x="804672" y="208483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544" y="220370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20574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Catálogo</a:t>
            </a:r>
            <a:endParaRPr lang="es-GT" sz="1350" noProof="0" dirty="0"/>
          </a:p>
        </p:txBody>
      </p:sp>
      <p:sp>
        <p:nvSpPr>
          <p:cNvPr id="12" name="Text 8"/>
          <p:cNvSpPr/>
          <p:nvPr/>
        </p:nvSpPr>
        <p:spPr>
          <a:xfrm>
            <a:off x="1444752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Búsqueda, categorías, filtros y vista rápida</a:t>
            </a:r>
            <a:endParaRPr lang="es-GT" sz="860" noProof="0" dirty="0"/>
          </a:p>
        </p:txBody>
      </p:sp>
      <p:sp>
        <p:nvSpPr>
          <p:cNvPr id="13" name="Shape 9"/>
          <p:cNvSpPr/>
          <p:nvPr/>
        </p:nvSpPr>
        <p:spPr>
          <a:xfrm>
            <a:off x="4407408" y="182880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Shape 10"/>
          <p:cNvSpPr/>
          <p:nvPr/>
        </p:nvSpPr>
        <p:spPr>
          <a:xfrm>
            <a:off x="4572000" y="208483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0872" y="220370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2080" y="20574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Cuenta</a:t>
            </a:r>
            <a:endParaRPr lang="es-GT" sz="1350" noProof="0" dirty="0"/>
          </a:p>
        </p:txBody>
      </p:sp>
      <p:sp>
        <p:nvSpPr>
          <p:cNvPr id="17" name="Text 12"/>
          <p:cNvSpPr/>
          <p:nvPr/>
        </p:nvSpPr>
        <p:spPr>
          <a:xfrm>
            <a:off x="5212080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Registro, login, </a:t>
            </a:r>
            <a:r>
              <a:rPr lang="es-GT" sz="86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logout</a:t>
            </a: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perfil de cliente</a:t>
            </a:r>
            <a:endParaRPr lang="es-GT" sz="860" noProof="0" dirty="0"/>
          </a:p>
        </p:txBody>
      </p:sp>
      <p:sp>
        <p:nvSpPr>
          <p:cNvPr id="18" name="Shape 13"/>
          <p:cNvSpPr/>
          <p:nvPr/>
        </p:nvSpPr>
        <p:spPr>
          <a:xfrm>
            <a:off x="8174736" y="182880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9" name="Shape 14"/>
          <p:cNvSpPr/>
          <p:nvPr/>
        </p:nvSpPr>
        <p:spPr>
          <a:xfrm>
            <a:off x="8339328" y="208483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220370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79408" y="205740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Carrito</a:t>
            </a:r>
            <a:endParaRPr lang="es-GT" sz="1350" noProof="0" dirty="0"/>
          </a:p>
        </p:txBody>
      </p:sp>
      <p:sp>
        <p:nvSpPr>
          <p:cNvPr id="22" name="Text 16"/>
          <p:cNvSpPr/>
          <p:nvPr/>
        </p:nvSpPr>
        <p:spPr>
          <a:xfrm>
            <a:off x="8979408" y="234086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Agregar, cambiar cantidades y eliminar productos</a:t>
            </a:r>
            <a:endParaRPr lang="es-GT" sz="860" noProof="0" dirty="0"/>
          </a:p>
        </p:txBody>
      </p:sp>
      <p:sp>
        <p:nvSpPr>
          <p:cNvPr id="23" name="Shape 17"/>
          <p:cNvSpPr/>
          <p:nvPr/>
        </p:nvSpPr>
        <p:spPr>
          <a:xfrm>
            <a:off x="640080" y="324612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4" name="Shape 18"/>
          <p:cNvSpPr/>
          <p:nvPr/>
        </p:nvSpPr>
        <p:spPr>
          <a:xfrm>
            <a:off x="804672" y="350215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544" y="3621024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44752" y="34747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endParaRPr lang="es-GT" sz="1350" noProof="0" dirty="0"/>
          </a:p>
        </p:txBody>
      </p:sp>
      <p:sp>
        <p:nvSpPr>
          <p:cNvPr id="27" name="Text 20"/>
          <p:cNvSpPr/>
          <p:nvPr/>
        </p:nvSpPr>
        <p:spPr>
          <a:xfrm>
            <a:off x="1444752" y="375818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Direcciones, facturación, pago y confirmación</a:t>
            </a:r>
            <a:endParaRPr lang="es-GT" sz="860" noProof="0" dirty="0"/>
          </a:p>
        </p:txBody>
      </p:sp>
      <p:sp>
        <p:nvSpPr>
          <p:cNvPr id="28" name="Shape 21"/>
          <p:cNvSpPr/>
          <p:nvPr/>
        </p:nvSpPr>
        <p:spPr>
          <a:xfrm>
            <a:off x="4407408" y="324612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9" name="Shape 22"/>
          <p:cNvSpPr/>
          <p:nvPr/>
        </p:nvSpPr>
        <p:spPr>
          <a:xfrm>
            <a:off x="4572000" y="350215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0872" y="3621024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12080" y="34747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Inventario</a:t>
            </a:r>
            <a:endParaRPr lang="es-GT" sz="1350" noProof="0" dirty="0"/>
          </a:p>
        </p:txBody>
      </p:sp>
      <p:sp>
        <p:nvSpPr>
          <p:cNvPr id="32" name="Text 24"/>
          <p:cNvSpPr/>
          <p:nvPr/>
        </p:nvSpPr>
        <p:spPr>
          <a:xfrm>
            <a:off x="5212080" y="375818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Descuento de stock al crear la orden</a:t>
            </a:r>
            <a:endParaRPr lang="es-GT" sz="860" noProof="0" dirty="0"/>
          </a:p>
        </p:txBody>
      </p:sp>
      <p:sp>
        <p:nvSpPr>
          <p:cNvPr id="33" name="Shape 25"/>
          <p:cNvSpPr/>
          <p:nvPr/>
        </p:nvSpPr>
        <p:spPr>
          <a:xfrm>
            <a:off x="8174736" y="3246120"/>
            <a:ext cx="321868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34" name="Shape 26"/>
          <p:cNvSpPr/>
          <p:nvPr/>
        </p:nvSpPr>
        <p:spPr>
          <a:xfrm>
            <a:off x="8339328" y="350215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8200" y="3621024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979408" y="34747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3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Administración</a:t>
            </a:r>
            <a:endParaRPr lang="es-GT" sz="1350" noProof="0" dirty="0"/>
          </a:p>
        </p:txBody>
      </p:sp>
      <p:sp>
        <p:nvSpPr>
          <p:cNvPr id="37" name="Text 28"/>
          <p:cNvSpPr/>
          <p:nvPr/>
        </p:nvSpPr>
        <p:spPr>
          <a:xfrm>
            <a:off x="8979408" y="3758184"/>
            <a:ext cx="21396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CRUD con permisos por rol</a:t>
            </a:r>
            <a:endParaRPr lang="es-GT" sz="860" noProof="0" dirty="0"/>
          </a:p>
        </p:txBody>
      </p:sp>
      <p:sp>
        <p:nvSpPr>
          <p:cNvPr id="38" name="Shape 29"/>
          <p:cNvSpPr/>
          <p:nvPr/>
        </p:nvSpPr>
        <p:spPr>
          <a:xfrm>
            <a:off x="1920240" y="5120640"/>
            <a:ext cx="8321040" cy="438912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E1C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9" name="Text 30"/>
          <p:cNvSpPr/>
          <p:nvPr/>
        </p:nvSpPr>
        <p:spPr>
          <a:xfrm>
            <a:off x="2148840" y="5266944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95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Estas funciones se presentan como un flujo continuo: usuario → producto → carrito → orden → base de datos.</a:t>
            </a:r>
            <a:endParaRPr lang="es-GT" sz="950" noProof="0" dirty="0"/>
          </a:p>
        </p:txBody>
      </p:sp>
      <p:sp>
        <p:nvSpPr>
          <p:cNvPr id="41" name="Shape 3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2" name="Text 32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43" name="Text 33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Alcance</a:t>
            </a:r>
            <a:endParaRPr lang="es-GT" sz="750" noProof="0" dirty="0"/>
          </a:p>
        </p:txBody>
      </p:sp>
      <p:sp>
        <p:nvSpPr>
          <p:cNvPr id="44" name="Text 34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s-GT" sz="800" noProof="0" dirty="0"/>
          </a:p>
        </p:txBody>
      </p:sp>
      <p:pic>
        <p:nvPicPr>
          <p:cNvPr id="40" name="Imagen 39" descr="Catálogo - Iconos gratis de márketing">
            <a:extLst>
              <a:ext uri="{FF2B5EF4-FFF2-40B4-BE49-F238E27FC236}">
                <a16:creationId xmlns:a16="http://schemas.microsoft.com/office/drawing/2014/main" id="{D04F0E6F-E5B0-2627-0F2B-929F37C83A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374" y="2141982"/>
            <a:ext cx="418948" cy="418948"/>
          </a:xfrm>
          <a:prstGeom prst="rect">
            <a:avLst/>
          </a:prstGeom>
        </p:spPr>
      </p:pic>
      <p:pic>
        <p:nvPicPr>
          <p:cNvPr id="45" name="Imagen 44" descr="Cuenta - Iconos gratis de interfaz">
            <a:extLst>
              <a:ext uri="{FF2B5EF4-FFF2-40B4-BE49-F238E27FC236}">
                <a16:creationId xmlns:a16="http://schemas.microsoft.com/office/drawing/2014/main" id="{E7B40EF6-131F-C3CC-ABFA-0215576E65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824" y="2118512"/>
            <a:ext cx="444703" cy="444703"/>
          </a:xfrm>
          <a:prstGeom prst="rect">
            <a:avLst/>
          </a:prstGeom>
        </p:spPr>
      </p:pic>
      <p:pic>
        <p:nvPicPr>
          <p:cNvPr id="46" name="Imagen 45" descr="Carrito de compras - Iconos gratis de comercio">
            <a:extLst>
              <a:ext uri="{FF2B5EF4-FFF2-40B4-BE49-F238E27FC236}">
                <a16:creationId xmlns:a16="http://schemas.microsoft.com/office/drawing/2014/main" id="{876A8982-0162-6113-7769-C126273B73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8083" y="2190598"/>
            <a:ext cx="369570" cy="369570"/>
          </a:xfrm>
          <a:prstGeom prst="rect">
            <a:avLst/>
          </a:prstGeom>
        </p:spPr>
      </p:pic>
      <p:pic>
        <p:nvPicPr>
          <p:cNvPr id="47" name="Imagen 46" descr="Checkout Icons - Free SVG &amp; PNG Checkout Images - Noun Project">
            <a:extLst>
              <a:ext uri="{FF2B5EF4-FFF2-40B4-BE49-F238E27FC236}">
                <a16:creationId xmlns:a16="http://schemas.microsoft.com/office/drawing/2014/main" id="{3C085873-2638-7895-F691-1AE9A26FA6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0374" y="3593426"/>
            <a:ext cx="391008" cy="391008"/>
          </a:xfrm>
          <a:prstGeom prst="rect">
            <a:avLst/>
          </a:prstGeom>
        </p:spPr>
      </p:pic>
      <p:pic>
        <p:nvPicPr>
          <p:cNvPr id="48" name="Imagen 47" descr="Inventario - Iconos gratis de negocios y finanzas">
            <a:extLst>
              <a:ext uri="{FF2B5EF4-FFF2-40B4-BE49-F238E27FC236}">
                <a16:creationId xmlns:a16="http://schemas.microsoft.com/office/drawing/2014/main" id="{4E38E629-09A3-D894-203B-C08C249CE2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57452" y="3591986"/>
            <a:ext cx="350683" cy="350683"/>
          </a:xfrm>
          <a:prstGeom prst="rect">
            <a:avLst/>
          </a:prstGeom>
        </p:spPr>
      </p:pic>
      <p:pic>
        <p:nvPicPr>
          <p:cNvPr id="49" name="Imagen 48" descr="Administración - Iconos gratis de negocios y finanzas">
            <a:extLst>
              <a:ext uri="{FF2B5EF4-FFF2-40B4-BE49-F238E27FC236}">
                <a16:creationId xmlns:a16="http://schemas.microsoft.com/office/drawing/2014/main" id="{1A8FFCEE-7D06-2961-FC95-AB3FC5ADF13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3827" y="3593426"/>
            <a:ext cx="361353" cy="3613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 err="1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</a:t>
            </a: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Backlog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REQUERIMIENTOS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Historias de usuario priorizadas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backlog se concentra en compra, seguridad,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responsividad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administración de recursos.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58368" y="1783080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932688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5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Requerimientos funcionales</a:t>
            </a:r>
            <a:endParaRPr lang="es-GT" sz="1450" noProof="0" dirty="0"/>
          </a:p>
        </p:txBody>
      </p:sp>
      <p:sp>
        <p:nvSpPr>
          <p:cNvPr id="10" name="Text 7"/>
          <p:cNvSpPr/>
          <p:nvPr/>
        </p:nvSpPr>
        <p:spPr>
          <a:xfrm>
            <a:off x="914400" y="2487168"/>
            <a:ext cx="566928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RF01</a:t>
            </a:r>
            <a:endParaRPr lang="es-GT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600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Consultar productos</a:t>
            </a:r>
            <a:endParaRPr lang="es-GT" sz="950" noProof="0" dirty="0"/>
          </a:p>
        </p:txBody>
      </p:sp>
      <p:sp>
        <p:nvSpPr>
          <p:cNvPr id="12" name="Text 9"/>
          <p:cNvSpPr/>
          <p:nvPr/>
        </p:nvSpPr>
        <p:spPr>
          <a:xfrm>
            <a:off x="5166360" y="253288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13" name="Text 10"/>
          <p:cNvSpPr/>
          <p:nvPr/>
        </p:nvSpPr>
        <p:spPr>
          <a:xfrm>
            <a:off x="914400" y="2843784"/>
            <a:ext cx="566928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RF02</a:t>
            </a:r>
            <a:endParaRPr lang="es-GT" sz="900" noProof="0" dirty="0"/>
          </a:p>
        </p:txBody>
      </p:sp>
      <p:sp>
        <p:nvSpPr>
          <p:cNvPr id="14" name="Text 11"/>
          <p:cNvSpPr/>
          <p:nvPr/>
        </p:nvSpPr>
        <p:spPr>
          <a:xfrm>
            <a:off x="1600200" y="288950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Buscar y filtrar</a:t>
            </a:r>
            <a:endParaRPr lang="es-GT" sz="950" noProof="0" dirty="0"/>
          </a:p>
        </p:txBody>
      </p:sp>
      <p:sp>
        <p:nvSpPr>
          <p:cNvPr id="15" name="Text 12"/>
          <p:cNvSpPr/>
          <p:nvPr/>
        </p:nvSpPr>
        <p:spPr>
          <a:xfrm>
            <a:off x="5166360" y="2889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16" name="Text 13"/>
          <p:cNvSpPr/>
          <p:nvPr/>
        </p:nvSpPr>
        <p:spPr>
          <a:xfrm>
            <a:off x="914400" y="3200400"/>
            <a:ext cx="566928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RF03</a:t>
            </a:r>
            <a:endParaRPr lang="es-GT" sz="900" noProof="0" dirty="0"/>
          </a:p>
        </p:txBody>
      </p:sp>
      <p:sp>
        <p:nvSpPr>
          <p:cNvPr id="17" name="Text 14"/>
          <p:cNvSpPr/>
          <p:nvPr/>
        </p:nvSpPr>
        <p:spPr>
          <a:xfrm>
            <a:off x="1600200" y="32461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Crear cuenta</a:t>
            </a:r>
            <a:endParaRPr lang="es-GT" sz="950" noProof="0" dirty="0"/>
          </a:p>
        </p:txBody>
      </p:sp>
      <p:sp>
        <p:nvSpPr>
          <p:cNvPr id="18" name="Text 15"/>
          <p:cNvSpPr/>
          <p:nvPr/>
        </p:nvSpPr>
        <p:spPr>
          <a:xfrm>
            <a:off x="5166360" y="324612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19" name="Text 16"/>
          <p:cNvSpPr/>
          <p:nvPr/>
        </p:nvSpPr>
        <p:spPr>
          <a:xfrm>
            <a:off x="914400" y="3557016"/>
            <a:ext cx="566928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RF04</a:t>
            </a:r>
            <a:endParaRPr lang="es-GT" sz="900" noProof="0" dirty="0"/>
          </a:p>
        </p:txBody>
      </p:sp>
      <p:sp>
        <p:nvSpPr>
          <p:cNvPr id="20" name="Text 17"/>
          <p:cNvSpPr/>
          <p:nvPr/>
        </p:nvSpPr>
        <p:spPr>
          <a:xfrm>
            <a:off x="1600200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Iniciar/cerrar sesión</a:t>
            </a:r>
            <a:endParaRPr lang="es-GT" sz="950" noProof="0" dirty="0"/>
          </a:p>
        </p:txBody>
      </p:sp>
      <p:sp>
        <p:nvSpPr>
          <p:cNvPr id="21" name="Text 18"/>
          <p:cNvSpPr/>
          <p:nvPr/>
        </p:nvSpPr>
        <p:spPr>
          <a:xfrm>
            <a:off x="5166360" y="360273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22" name="Text 19"/>
          <p:cNvSpPr/>
          <p:nvPr/>
        </p:nvSpPr>
        <p:spPr>
          <a:xfrm>
            <a:off x="914400" y="3913632"/>
            <a:ext cx="566928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RF05</a:t>
            </a:r>
            <a:endParaRPr lang="es-GT" sz="900" noProof="0" dirty="0"/>
          </a:p>
        </p:txBody>
      </p:sp>
      <p:sp>
        <p:nvSpPr>
          <p:cNvPr id="23" name="Text 20"/>
          <p:cNvSpPr/>
          <p:nvPr/>
        </p:nvSpPr>
        <p:spPr>
          <a:xfrm>
            <a:off x="1600200" y="39593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Gestionar carrito</a:t>
            </a:r>
            <a:endParaRPr lang="es-GT" sz="950" noProof="0" dirty="0"/>
          </a:p>
        </p:txBody>
      </p:sp>
      <p:sp>
        <p:nvSpPr>
          <p:cNvPr id="24" name="Text 21"/>
          <p:cNvSpPr/>
          <p:nvPr/>
        </p:nvSpPr>
        <p:spPr>
          <a:xfrm>
            <a:off x="5166360" y="395935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25" name="Text 22"/>
          <p:cNvSpPr/>
          <p:nvPr/>
        </p:nvSpPr>
        <p:spPr>
          <a:xfrm>
            <a:off x="914400" y="4270248"/>
            <a:ext cx="566928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RF07</a:t>
            </a:r>
            <a:endParaRPr lang="es-GT" sz="900" noProof="0" dirty="0"/>
          </a:p>
        </p:txBody>
      </p:sp>
      <p:sp>
        <p:nvSpPr>
          <p:cNvPr id="26" name="Text 23"/>
          <p:cNvSpPr/>
          <p:nvPr/>
        </p:nvSpPr>
        <p:spPr>
          <a:xfrm>
            <a:off x="1600200" y="43159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Finalizar compra</a:t>
            </a:r>
            <a:endParaRPr lang="es-GT" sz="950" noProof="0" dirty="0"/>
          </a:p>
        </p:txBody>
      </p:sp>
      <p:sp>
        <p:nvSpPr>
          <p:cNvPr id="27" name="Text 24"/>
          <p:cNvSpPr/>
          <p:nvPr/>
        </p:nvSpPr>
        <p:spPr>
          <a:xfrm>
            <a:off x="5166360" y="43159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28" name="Text 25"/>
          <p:cNvSpPr/>
          <p:nvPr/>
        </p:nvSpPr>
        <p:spPr>
          <a:xfrm>
            <a:off x="914400" y="4626864"/>
            <a:ext cx="566928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RF08</a:t>
            </a:r>
            <a:endParaRPr lang="es-GT" sz="900" noProof="0" dirty="0"/>
          </a:p>
        </p:txBody>
      </p:sp>
      <p:sp>
        <p:nvSpPr>
          <p:cNvPr id="29" name="Text 26"/>
          <p:cNvSpPr/>
          <p:nvPr/>
        </p:nvSpPr>
        <p:spPr>
          <a:xfrm>
            <a:off x="1600200" y="46725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Confirmar compra</a:t>
            </a:r>
            <a:endParaRPr lang="es-GT" sz="950" noProof="0" dirty="0"/>
          </a:p>
        </p:txBody>
      </p:sp>
      <p:sp>
        <p:nvSpPr>
          <p:cNvPr id="30" name="Text 27"/>
          <p:cNvSpPr/>
          <p:nvPr/>
        </p:nvSpPr>
        <p:spPr>
          <a:xfrm>
            <a:off x="5166360" y="467258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31" name="Text 28"/>
          <p:cNvSpPr/>
          <p:nvPr/>
        </p:nvSpPr>
        <p:spPr>
          <a:xfrm>
            <a:off x="914400" y="4983480"/>
            <a:ext cx="566928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RF10</a:t>
            </a:r>
            <a:endParaRPr lang="es-GT" sz="900" noProof="0" dirty="0"/>
          </a:p>
        </p:txBody>
      </p:sp>
      <p:sp>
        <p:nvSpPr>
          <p:cNvPr id="32" name="Text 29"/>
          <p:cNvSpPr/>
          <p:nvPr/>
        </p:nvSpPr>
        <p:spPr>
          <a:xfrm>
            <a:off x="1600200" y="50292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Usar desde móvil</a:t>
            </a:r>
            <a:endParaRPr lang="es-GT" sz="950" noProof="0" dirty="0"/>
          </a:p>
        </p:txBody>
      </p:sp>
      <p:sp>
        <p:nvSpPr>
          <p:cNvPr id="33" name="Text 30"/>
          <p:cNvSpPr/>
          <p:nvPr/>
        </p:nvSpPr>
        <p:spPr>
          <a:xfrm>
            <a:off x="5166360" y="5029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5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Alta</a:t>
            </a:r>
            <a:endParaRPr lang="es-GT" sz="850" noProof="0" dirty="0"/>
          </a:p>
        </p:txBody>
      </p:sp>
      <p:sp>
        <p:nvSpPr>
          <p:cNvPr id="34" name="Shape 31"/>
          <p:cNvSpPr/>
          <p:nvPr/>
        </p:nvSpPr>
        <p:spPr>
          <a:xfrm>
            <a:off x="6720840" y="1783080"/>
            <a:ext cx="4800600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35" name="Text 32"/>
          <p:cNvSpPr/>
          <p:nvPr/>
        </p:nvSpPr>
        <p:spPr>
          <a:xfrm>
            <a:off x="7059168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5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Requerimientos no funcionales</a:t>
            </a:r>
            <a:endParaRPr lang="es-GT" sz="1450" noProof="0" dirty="0"/>
          </a:p>
        </p:txBody>
      </p:sp>
      <p:sp>
        <p:nvSpPr>
          <p:cNvPr id="36" name="Shape 33"/>
          <p:cNvSpPr/>
          <p:nvPr/>
        </p:nvSpPr>
        <p:spPr>
          <a:xfrm>
            <a:off x="7114032" y="2624328"/>
            <a:ext cx="118872" cy="118872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7" name="Text 34"/>
          <p:cNvSpPr/>
          <p:nvPr/>
        </p:nvSpPr>
        <p:spPr>
          <a:xfrm>
            <a:off x="7360920" y="260604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Seguridad</a:t>
            </a:r>
            <a:endParaRPr lang="es-GT" sz="1000" noProof="0" dirty="0"/>
          </a:p>
        </p:txBody>
      </p:sp>
      <p:sp>
        <p:nvSpPr>
          <p:cNvPr id="38" name="Text 35"/>
          <p:cNvSpPr/>
          <p:nvPr/>
        </p:nvSpPr>
        <p:spPr>
          <a:xfrm>
            <a:off x="8522208" y="26060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PDO, hash de contraseñas y sesiones</a:t>
            </a:r>
            <a:endParaRPr lang="es-GT" sz="860" noProof="0" dirty="0"/>
          </a:p>
        </p:txBody>
      </p:sp>
      <p:sp>
        <p:nvSpPr>
          <p:cNvPr id="39" name="Shape 36"/>
          <p:cNvSpPr/>
          <p:nvPr/>
        </p:nvSpPr>
        <p:spPr>
          <a:xfrm>
            <a:off x="7114032" y="3099816"/>
            <a:ext cx="118872" cy="11887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0" name="Text 37"/>
          <p:cNvSpPr/>
          <p:nvPr/>
        </p:nvSpPr>
        <p:spPr>
          <a:xfrm>
            <a:off x="7360920" y="308152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Facilidad</a:t>
            </a:r>
            <a:endParaRPr lang="es-GT" sz="1000" noProof="0" dirty="0"/>
          </a:p>
        </p:txBody>
      </p:sp>
      <p:sp>
        <p:nvSpPr>
          <p:cNvPr id="41" name="Text 38"/>
          <p:cNvSpPr/>
          <p:nvPr/>
        </p:nvSpPr>
        <p:spPr>
          <a:xfrm>
            <a:off x="8522208" y="3081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Interfaz clara en español</a:t>
            </a:r>
            <a:endParaRPr lang="es-GT" sz="860" noProof="0" dirty="0"/>
          </a:p>
        </p:txBody>
      </p:sp>
      <p:sp>
        <p:nvSpPr>
          <p:cNvPr id="42" name="Shape 39"/>
          <p:cNvSpPr/>
          <p:nvPr/>
        </p:nvSpPr>
        <p:spPr>
          <a:xfrm>
            <a:off x="7114032" y="3575304"/>
            <a:ext cx="118872" cy="118872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3" name="Text 40"/>
          <p:cNvSpPr/>
          <p:nvPr/>
        </p:nvSpPr>
        <p:spPr>
          <a:xfrm>
            <a:off x="7360920" y="35570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Rendimiento</a:t>
            </a:r>
            <a:endParaRPr lang="es-GT" sz="1000" noProof="0" dirty="0"/>
          </a:p>
        </p:txBody>
      </p:sp>
      <p:sp>
        <p:nvSpPr>
          <p:cNvPr id="44" name="Text 41"/>
          <p:cNvSpPr/>
          <p:nvPr/>
        </p:nvSpPr>
        <p:spPr>
          <a:xfrm>
            <a:off x="8522208" y="35570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Vite, componentes y JSON</a:t>
            </a:r>
            <a:endParaRPr lang="es-GT" sz="860" noProof="0" dirty="0"/>
          </a:p>
        </p:txBody>
      </p:sp>
      <p:sp>
        <p:nvSpPr>
          <p:cNvPr id="45" name="Shape 42"/>
          <p:cNvSpPr/>
          <p:nvPr/>
        </p:nvSpPr>
        <p:spPr>
          <a:xfrm>
            <a:off x="7114032" y="4050792"/>
            <a:ext cx="118872" cy="11887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6" name="Text 43"/>
          <p:cNvSpPr/>
          <p:nvPr/>
        </p:nvSpPr>
        <p:spPr>
          <a:xfrm>
            <a:off x="7360920" y="40325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</a:t>
            </a:r>
            <a:endParaRPr lang="es-GT" sz="1000" noProof="0" dirty="0"/>
          </a:p>
        </p:txBody>
      </p:sp>
      <p:sp>
        <p:nvSpPr>
          <p:cNvPr id="47" name="Text 44"/>
          <p:cNvSpPr/>
          <p:nvPr/>
        </p:nvSpPr>
        <p:spPr>
          <a:xfrm>
            <a:off x="8522208" y="40325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 5, SCSS y responsive</a:t>
            </a:r>
            <a:endParaRPr lang="es-GT" sz="860" noProof="0" dirty="0"/>
          </a:p>
        </p:txBody>
      </p:sp>
      <p:sp>
        <p:nvSpPr>
          <p:cNvPr id="48" name="Shape 45"/>
          <p:cNvSpPr/>
          <p:nvPr/>
        </p:nvSpPr>
        <p:spPr>
          <a:xfrm>
            <a:off x="7114032" y="4526280"/>
            <a:ext cx="118872" cy="118872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9" name="Text 46"/>
          <p:cNvSpPr/>
          <p:nvPr/>
        </p:nvSpPr>
        <p:spPr>
          <a:xfrm>
            <a:off x="7360920" y="450799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Integridad</a:t>
            </a:r>
            <a:endParaRPr lang="es-GT" sz="1000" noProof="0" dirty="0"/>
          </a:p>
        </p:txBody>
      </p:sp>
      <p:sp>
        <p:nvSpPr>
          <p:cNvPr id="50" name="Text 47"/>
          <p:cNvSpPr/>
          <p:nvPr/>
        </p:nvSpPr>
        <p:spPr>
          <a:xfrm>
            <a:off x="8522208" y="4507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FK, UNIQUE, CHECK y transacciones</a:t>
            </a:r>
            <a:endParaRPr lang="es-GT" sz="860" noProof="0" dirty="0"/>
          </a:p>
        </p:txBody>
      </p:sp>
      <p:sp>
        <p:nvSpPr>
          <p:cNvPr id="51" name="Shape 48"/>
          <p:cNvSpPr/>
          <p:nvPr/>
        </p:nvSpPr>
        <p:spPr>
          <a:xfrm>
            <a:off x="7114032" y="5001768"/>
            <a:ext cx="118872" cy="118872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52" name="Text 49"/>
          <p:cNvSpPr/>
          <p:nvPr/>
        </p:nvSpPr>
        <p:spPr>
          <a:xfrm>
            <a:off x="7360920" y="4983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Mantenibilidad</a:t>
            </a:r>
            <a:endParaRPr lang="es-GT" sz="1000" noProof="0" dirty="0"/>
          </a:p>
        </p:txBody>
      </p:sp>
      <p:sp>
        <p:nvSpPr>
          <p:cNvPr id="53" name="Text 50"/>
          <p:cNvSpPr/>
          <p:nvPr/>
        </p:nvSpPr>
        <p:spPr>
          <a:xfrm>
            <a:off x="8522208" y="49834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C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Separación por capas</a:t>
            </a:r>
            <a:endParaRPr lang="es-GT" sz="860" noProof="0" dirty="0"/>
          </a:p>
        </p:txBody>
      </p:sp>
      <p:sp>
        <p:nvSpPr>
          <p:cNvPr id="55" name="Shape 5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56" name="Text 52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57" name="Text 53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Requerimientos</a:t>
            </a:r>
            <a:endParaRPr lang="es-GT" sz="750" noProof="0" dirty="0"/>
          </a:p>
        </p:txBody>
      </p:sp>
      <p:sp>
        <p:nvSpPr>
          <p:cNvPr id="58" name="Text 54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5">
            <a:extLst>
              <a:ext uri="{FF2B5EF4-FFF2-40B4-BE49-F238E27FC236}">
                <a16:creationId xmlns:a16="http://schemas.microsoft.com/office/drawing/2014/main" id="{6B433D96-B606-A9C4-1B44-0AF8A995B0AE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5" name="Text 26">
            <a:extLst>
              <a:ext uri="{FF2B5EF4-FFF2-40B4-BE49-F238E27FC236}">
                <a16:creationId xmlns:a16="http://schemas.microsoft.com/office/drawing/2014/main" id="{46F868E6-A352-8EBB-1735-63DB7C06B7BA}"/>
              </a:ext>
            </a:extLst>
          </p:cNvPr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87F3340E-7CF6-33A6-612C-4F57D47AE0D9}"/>
              </a:ext>
            </a:extLst>
          </p:cNvPr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Historias y validación</a:t>
            </a:r>
            <a:endParaRPr lang="es-GT" sz="750" noProof="0" dirty="0"/>
          </a:p>
        </p:txBody>
      </p:sp>
      <p:sp>
        <p:nvSpPr>
          <p:cNvPr id="9" name="Text 28">
            <a:extLst>
              <a:ext uri="{FF2B5EF4-FFF2-40B4-BE49-F238E27FC236}">
                <a16:creationId xmlns:a16="http://schemas.microsoft.com/office/drawing/2014/main" id="{DB7D5AE5-6F06-D80A-7064-DDED1C2885E4}"/>
              </a:ext>
            </a:extLst>
          </p:cNvPr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s-GT" sz="800" noProof="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6049E3D-168C-A509-DCB8-9AEA04F52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427E6C4B-9791-4E37-1C11-329E19CDD991}"/>
              </a:ext>
            </a:extLst>
          </p:cNvPr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B2A879A0-C201-C516-F73B-31CA803A8907}"/>
              </a:ext>
            </a:extLst>
          </p:cNvPr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Requerimientos</a:t>
            </a:r>
            <a:endParaRPr lang="es-GT" sz="800" noProof="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20D1AC0-9661-E94B-7D03-1A406BF081E5}"/>
              </a:ext>
            </a:extLst>
          </p:cNvPr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HISTORIAS DE USUARIO Y VALIDACIÓN</a:t>
            </a:r>
            <a:endParaRPr lang="es-GT" sz="850" noProof="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598FF61D-7C11-EFCF-B7F3-7814F91AC82A}"/>
              </a:ext>
            </a:extLst>
          </p:cNvPr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Necesidades y criterios de aceptación</a:t>
            </a:r>
            <a:endParaRPr lang="es-GT" sz="2400" noProof="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6A6C5BE-7D9C-B647-F456-FFF8E38C5009}"/>
              </a:ext>
            </a:extLst>
          </p:cNvPr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Las historias de compra y reseña definen necesidades del usuario y criterios de aceptación.</a:t>
            </a:r>
            <a:endParaRPr lang="es-GT" sz="1050" noProof="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58B96F1E-6DD9-2AA3-A1C9-00FE85A2213F}"/>
              </a:ext>
            </a:extLst>
          </p:cNvPr>
          <p:cNvSpPr/>
          <p:nvPr/>
        </p:nvSpPr>
        <p:spPr>
          <a:xfrm>
            <a:off x="658368" y="1783080"/>
            <a:ext cx="543763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Shape 31">
            <a:extLst>
              <a:ext uri="{FF2B5EF4-FFF2-40B4-BE49-F238E27FC236}">
                <a16:creationId xmlns:a16="http://schemas.microsoft.com/office/drawing/2014/main" id="{00AFDFAA-DA6D-BB4D-3BF5-50AC44F063DF}"/>
              </a:ext>
            </a:extLst>
          </p:cNvPr>
          <p:cNvSpPr/>
          <p:nvPr/>
        </p:nvSpPr>
        <p:spPr>
          <a:xfrm>
            <a:off x="6256782" y="1783080"/>
            <a:ext cx="5264658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F809C46-E854-E66A-B84F-865B42F8BE57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Historias de usuario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E505DFF-0E48-F354-2F88-3AAEA0B57ABD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409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725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725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Compra: </a:t>
            </a:r>
            <a:r>
              <a:rPr lang="es-GT" sz="1725" b="0" i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Como cliente, quiero confirmar mi carrito para registrar una orden</a:t>
            </a:r>
            <a:r>
              <a:rPr lang="es-GT" sz="1725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.</a:t>
            </a:r>
          </a:p>
          <a:p>
            <a:endParaRPr lang="es-GT" sz="1725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725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725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Aceptación: la orden guarda sus detalles y actualiza las existencias.</a:t>
            </a:r>
          </a:p>
          <a:p>
            <a:endParaRPr lang="es-GT" sz="1725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725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725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Reseña: </a:t>
            </a:r>
            <a:r>
              <a:rPr lang="es-GT" sz="1725" b="0" i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Como comprador, quiero valorar un producto recibido para compartir mi experiencia.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577F2D35-5A0F-D538-A803-9CC12594F3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984" r="-1"/>
          <a:stretch>
            <a:fillRect/>
          </a:stretch>
        </p:blipFill>
        <p:spPr>
          <a:xfrm>
            <a:off x="6415790" y="1924050"/>
            <a:ext cx="4957060" cy="389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23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WIREFRAME Y MOCKUP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 visual y versión Alpha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interfaz evolucionó de estructura de baja fidelidad a mockup con branding de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12648" y="1664208"/>
            <a:ext cx="5404104" cy="3255264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pic>
        <p:nvPicPr>
          <p:cNvPr id="9" name="Image 1" descr="/mnt/data/ppt_gen/assets/informe/page-05.png"/>
          <p:cNvPicPr>
            <a:picLocks noChangeAspect="1"/>
          </p:cNvPicPr>
          <p:nvPr/>
        </p:nvPicPr>
        <p:blipFill>
          <a:blip r:embed="rId4"/>
          <a:srcRect l="10127" t="57213" r="8957" b="6274"/>
          <a:stretch>
            <a:fillRect/>
          </a:stretch>
        </p:blipFill>
        <p:spPr>
          <a:xfrm>
            <a:off x="705038" y="1697937"/>
            <a:ext cx="5219323" cy="304779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6916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Shape 7"/>
          <p:cNvSpPr/>
          <p:nvPr/>
        </p:nvSpPr>
        <p:spPr>
          <a:xfrm>
            <a:off x="6720840" y="1901952"/>
            <a:ext cx="4572000" cy="438912"/>
          </a:xfrm>
          <a:prstGeom prst="roundRect">
            <a:avLst/>
          </a:prstGeom>
          <a:solidFill>
            <a:srgbClr val="0866FF"/>
          </a:solidFill>
          <a:ln w="1270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Text 8"/>
          <p:cNvSpPr/>
          <p:nvPr/>
        </p:nvSpPr>
        <p:spPr>
          <a:xfrm>
            <a:off x="6967728" y="2039112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Mockup </a:t>
            </a:r>
            <a:r>
              <a:rPr lang="es-GT" sz="10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endParaRPr lang="es-GT" sz="1000" noProof="0" dirty="0"/>
          </a:p>
        </p:txBody>
      </p:sp>
      <p:sp>
        <p:nvSpPr>
          <p:cNvPr id="13" name="Shape 9"/>
          <p:cNvSpPr/>
          <p:nvPr/>
        </p:nvSpPr>
        <p:spPr>
          <a:xfrm>
            <a:off x="9189720" y="2011680"/>
            <a:ext cx="1463040" cy="155448"/>
          </a:xfrm>
          <a:prstGeom prst="round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Shape 10"/>
          <p:cNvSpPr/>
          <p:nvPr/>
        </p:nvSpPr>
        <p:spPr>
          <a:xfrm>
            <a:off x="6720840" y="2578608"/>
            <a:ext cx="4572000" cy="841248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7E9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Text 11"/>
          <p:cNvSpPr/>
          <p:nvPr/>
        </p:nvSpPr>
        <p:spPr>
          <a:xfrm>
            <a:off x="6967728" y="27706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 lo que necesitas</a:t>
            </a:r>
            <a:endParaRPr lang="es-GT" sz="1500" noProof="0" dirty="0"/>
          </a:p>
          <a:p>
            <a:pPr marL="0" indent="0">
              <a:buNone/>
            </a:pPr>
            <a:r>
              <a:rPr lang="es-GT" sz="150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 un solo lugar</a:t>
            </a:r>
            <a:endParaRPr lang="es-GT" sz="1500" noProof="0" dirty="0"/>
          </a:p>
        </p:txBody>
      </p:sp>
      <p:sp>
        <p:nvSpPr>
          <p:cNvPr id="16" name="Shape 12"/>
          <p:cNvSpPr/>
          <p:nvPr/>
        </p:nvSpPr>
        <p:spPr>
          <a:xfrm>
            <a:off x="6720840" y="3703320"/>
            <a:ext cx="7132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3"/>
          <p:cNvSpPr/>
          <p:nvPr/>
        </p:nvSpPr>
        <p:spPr>
          <a:xfrm>
            <a:off x="6720840" y="407822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480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Celulares</a:t>
            </a:r>
            <a:endParaRPr lang="es-GT" sz="480" noProof="0" dirty="0"/>
          </a:p>
        </p:txBody>
      </p:sp>
      <p:sp>
        <p:nvSpPr>
          <p:cNvPr id="18" name="Shape 14"/>
          <p:cNvSpPr/>
          <p:nvPr/>
        </p:nvSpPr>
        <p:spPr>
          <a:xfrm>
            <a:off x="7635240" y="3703320"/>
            <a:ext cx="7132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9" name="Text 15"/>
          <p:cNvSpPr/>
          <p:nvPr/>
        </p:nvSpPr>
        <p:spPr>
          <a:xfrm>
            <a:off x="7635240" y="407822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480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Laptops</a:t>
            </a:r>
            <a:endParaRPr lang="es-GT" sz="480" noProof="0" dirty="0"/>
          </a:p>
        </p:txBody>
      </p:sp>
      <p:sp>
        <p:nvSpPr>
          <p:cNvPr id="20" name="Shape 16"/>
          <p:cNvSpPr/>
          <p:nvPr/>
        </p:nvSpPr>
        <p:spPr>
          <a:xfrm>
            <a:off x="8549640" y="3703320"/>
            <a:ext cx="7132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Text 17"/>
          <p:cNvSpPr/>
          <p:nvPr/>
        </p:nvSpPr>
        <p:spPr>
          <a:xfrm>
            <a:off x="8549640" y="407822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480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Audio</a:t>
            </a:r>
            <a:endParaRPr lang="es-GT" sz="480" noProof="0" dirty="0"/>
          </a:p>
        </p:txBody>
      </p:sp>
      <p:sp>
        <p:nvSpPr>
          <p:cNvPr id="22" name="Shape 18"/>
          <p:cNvSpPr/>
          <p:nvPr/>
        </p:nvSpPr>
        <p:spPr>
          <a:xfrm>
            <a:off x="9464040" y="3703320"/>
            <a:ext cx="7132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3" name="Text 19"/>
          <p:cNvSpPr/>
          <p:nvPr/>
        </p:nvSpPr>
        <p:spPr>
          <a:xfrm>
            <a:off x="9464040" y="407822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480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Accesorios</a:t>
            </a:r>
            <a:endParaRPr lang="es-GT" sz="480" noProof="0" dirty="0"/>
          </a:p>
        </p:txBody>
      </p:sp>
      <p:sp>
        <p:nvSpPr>
          <p:cNvPr id="24" name="Shape 20"/>
          <p:cNvSpPr/>
          <p:nvPr/>
        </p:nvSpPr>
        <p:spPr>
          <a:xfrm>
            <a:off x="10378440" y="3703320"/>
            <a:ext cx="71323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Text 21"/>
          <p:cNvSpPr/>
          <p:nvPr/>
        </p:nvSpPr>
        <p:spPr>
          <a:xfrm>
            <a:off x="10378440" y="407822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480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Gaming</a:t>
            </a:r>
            <a:endParaRPr lang="es-GT" sz="480" noProof="0" dirty="0"/>
          </a:p>
        </p:txBody>
      </p:sp>
      <p:sp>
        <p:nvSpPr>
          <p:cNvPr id="30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1" name="Text 26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2" name="Text 27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Mockups</a:t>
            </a:r>
            <a:endParaRPr lang="es-GT" sz="750" noProof="0" dirty="0"/>
          </a:p>
        </p:txBody>
      </p:sp>
      <p:sp>
        <p:nvSpPr>
          <p:cNvPr id="33" name="Text 28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Tecnologías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Separación </a:t>
            </a:r>
            <a:r>
              <a:rPr lang="es-GT" sz="24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</a:t>
            </a: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API · Datos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8705088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consume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endpoints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PHP; los controladores aplican reglas de negocio y los modelos acceden a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por PDO.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2057400" y="2880360"/>
            <a:ext cx="1783080" cy="0"/>
          </a:xfrm>
          <a:prstGeom prst="line">
            <a:avLst/>
          </a:prstGeom>
          <a:noFill/>
          <a:ln w="25400">
            <a:solidFill>
              <a:srgbClr val="086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9" name="Shape 6"/>
          <p:cNvSpPr/>
          <p:nvPr/>
        </p:nvSpPr>
        <p:spPr>
          <a:xfrm>
            <a:off x="4800600" y="2880360"/>
            <a:ext cx="1828800" cy="0"/>
          </a:xfrm>
          <a:prstGeom prst="line">
            <a:avLst/>
          </a:prstGeom>
          <a:noFill/>
          <a:ln w="25400">
            <a:solidFill>
              <a:srgbClr val="086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Shape 7"/>
          <p:cNvSpPr/>
          <p:nvPr/>
        </p:nvSpPr>
        <p:spPr>
          <a:xfrm>
            <a:off x="7543800" y="2880360"/>
            <a:ext cx="1920240" cy="0"/>
          </a:xfrm>
          <a:prstGeom prst="line">
            <a:avLst/>
          </a:prstGeom>
          <a:noFill/>
          <a:ln w="25400">
            <a:solidFill>
              <a:srgbClr val="0866F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Shape 8"/>
          <p:cNvSpPr/>
          <p:nvPr/>
        </p:nvSpPr>
        <p:spPr>
          <a:xfrm>
            <a:off x="7086600" y="3401568"/>
            <a:ext cx="0" cy="850392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Shape 9"/>
          <p:cNvSpPr/>
          <p:nvPr/>
        </p:nvSpPr>
        <p:spPr>
          <a:xfrm>
            <a:off x="685800" y="23317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0866FF"/>
            </a:solidFill>
            <a:prstDash val="solid"/>
          </a:ln>
          <a:effectLst>
            <a:outerShdw blurRad="12700" dist="50800" dir="2700000" algn="bl" rotWithShape="0">
              <a:srgbClr val="D6E2F2">
                <a:alpha val="18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3" name="Text 10"/>
          <p:cNvSpPr/>
          <p:nvPr/>
        </p:nvSpPr>
        <p:spPr>
          <a:xfrm>
            <a:off x="795528" y="24414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0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</a:t>
            </a:r>
            <a:endParaRPr lang="es-GT" sz="1000" noProof="0" dirty="0"/>
          </a:p>
        </p:txBody>
      </p:sp>
      <p:sp>
        <p:nvSpPr>
          <p:cNvPr id="14" name="Text 11"/>
          <p:cNvSpPr/>
          <p:nvPr/>
        </p:nvSpPr>
        <p:spPr>
          <a:xfrm>
            <a:off x="795528" y="2679192"/>
            <a:ext cx="1472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+ Vite</a:t>
            </a:r>
            <a:endParaRPr lang="es-GT" sz="750" noProof="0" dirty="0"/>
          </a:p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 + SCSS</a:t>
            </a:r>
            <a:endParaRPr lang="es-GT" sz="750" noProof="0" dirty="0"/>
          </a:p>
        </p:txBody>
      </p:sp>
      <p:sp>
        <p:nvSpPr>
          <p:cNvPr id="15" name="Shape 12"/>
          <p:cNvSpPr/>
          <p:nvPr/>
        </p:nvSpPr>
        <p:spPr>
          <a:xfrm>
            <a:off x="3520440" y="23317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FF6A00"/>
            </a:solidFill>
            <a:prstDash val="solid"/>
          </a:ln>
          <a:effectLst>
            <a:outerShdw blurRad="12700" dist="50800" dir="2700000" algn="bl" rotWithShape="0">
              <a:srgbClr val="D6E2F2">
                <a:alpha val="18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6" name="Text 13"/>
          <p:cNvSpPr/>
          <p:nvPr/>
        </p:nvSpPr>
        <p:spPr>
          <a:xfrm>
            <a:off x="3630168" y="24414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0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HTTP</a:t>
            </a:r>
            <a:endParaRPr lang="es-GT" sz="1000" noProof="0" dirty="0"/>
          </a:p>
        </p:txBody>
      </p:sp>
      <p:sp>
        <p:nvSpPr>
          <p:cNvPr id="17" name="Text 14"/>
          <p:cNvSpPr/>
          <p:nvPr/>
        </p:nvSpPr>
        <p:spPr>
          <a:xfrm>
            <a:off x="3630168" y="2679192"/>
            <a:ext cx="1472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</a:t>
            </a:r>
            <a:endParaRPr lang="es-GT" sz="750" noProof="0" dirty="0"/>
          </a:p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JSON + sesiones</a:t>
            </a:r>
            <a:endParaRPr lang="es-GT" sz="750" noProof="0" dirty="0"/>
          </a:p>
        </p:txBody>
      </p:sp>
      <p:sp>
        <p:nvSpPr>
          <p:cNvPr id="18" name="Shape 15"/>
          <p:cNvSpPr/>
          <p:nvPr/>
        </p:nvSpPr>
        <p:spPr>
          <a:xfrm>
            <a:off x="6355080" y="23317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6E2F2">
                <a:alpha val="18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9" name="Text 16"/>
          <p:cNvSpPr/>
          <p:nvPr/>
        </p:nvSpPr>
        <p:spPr>
          <a:xfrm>
            <a:off x="6464808" y="24414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0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Lógica </a:t>
            </a:r>
            <a:r>
              <a:rPr lang="es-GT" sz="10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endParaRPr lang="es-GT" sz="1000" noProof="0" dirty="0"/>
          </a:p>
        </p:txBody>
      </p:sp>
      <p:sp>
        <p:nvSpPr>
          <p:cNvPr id="20" name="Text 17"/>
          <p:cNvSpPr/>
          <p:nvPr/>
        </p:nvSpPr>
        <p:spPr>
          <a:xfrm>
            <a:off x="6464808" y="2679192"/>
            <a:ext cx="1472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Controladores</a:t>
            </a:r>
            <a:endParaRPr lang="es-GT" sz="750" noProof="0" dirty="0"/>
          </a:p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Modelos + PDO</a:t>
            </a:r>
            <a:endParaRPr lang="es-GT" sz="750" noProof="0" dirty="0"/>
          </a:p>
        </p:txBody>
      </p:sp>
      <p:sp>
        <p:nvSpPr>
          <p:cNvPr id="21" name="Shape 18"/>
          <p:cNvSpPr/>
          <p:nvPr/>
        </p:nvSpPr>
        <p:spPr>
          <a:xfrm>
            <a:off x="9144000" y="233172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D6E2F2">
                <a:alpha val="18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2" name="Text 19"/>
          <p:cNvSpPr/>
          <p:nvPr/>
        </p:nvSpPr>
        <p:spPr>
          <a:xfrm>
            <a:off x="9253728" y="244144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0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endParaRPr lang="es-GT" sz="1000" noProof="0" dirty="0"/>
          </a:p>
        </p:txBody>
      </p:sp>
      <p:sp>
        <p:nvSpPr>
          <p:cNvPr id="23" name="Text 20"/>
          <p:cNvSpPr/>
          <p:nvPr/>
        </p:nvSpPr>
        <p:spPr>
          <a:xfrm>
            <a:off x="9253728" y="2679192"/>
            <a:ext cx="147218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Datos transaccionales</a:t>
            </a:r>
            <a:endParaRPr lang="es-GT" sz="750" noProof="0" dirty="0"/>
          </a:p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tablas</a:t>
            </a:r>
            <a:endParaRPr lang="es-GT" sz="750" noProof="0" dirty="0"/>
          </a:p>
        </p:txBody>
      </p:sp>
      <p:sp>
        <p:nvSpPr>
          <p:cNvPr id="24" name="Shape 21"/>
          <p:cNvSpPr/>
          <p:nvPr/>
        </p:nvSpPr>
        <p:spPr>
          <a:xfrm>
            <a:off x="6080760" y="425196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D6E2F2">
                <a:alpha val="18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Text 22"/>
          <p:cNvSpPr/>
          <p:nvPr/>
        </p:nvSpPr>
        <p:spPr>
          <a:xfrm>
            <a:off x="6190488" y="4361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10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NoSQL</a:t>
            </a:r>
            <a:endParaRPr lang="es-GT" sz="1000" noProof="0" dirty="0"/>
          </a:p>
        </p:txBody>
      </p:sp>
      <p:sp>
        <p:nvSpPr>
          <p:cNvPr id="26" name="Text 23"/>
          <p:cNvSpPr/>
          <p:nvPr/>
        </p:nvSpPr>
        <p:spPr>
          <a:xfrm>
            <a:off x="6190488" y="4599432"/>
            <a:ext cx="1792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Reseñas en MongoDB (versión local)</a:t>
            </a:r>
            <a:endParaRPr lang="es-GT" sz="750" noProof="0" dirty="0"/>
          </a:p>
        </p:txBody>
      </p:sp>
      <p:sp>
        <p:nvSpPr>
          <p:cNvPr id="27" name="Text 24"/>
          <p:cNvSpPr/>
          <p:nvPr/>
        </p:nvSpPr>
        <p:spPr>
          <a:xfrm>
            <a:off x="914400" y="5440680"/>
            <a:ext cx="2834640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 err="1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</a:t>
            </a: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19 · UI</a:t>
            </a:r>
            <a:endParaRPr lang="es-GT" sz="900" noProof="0" dirty="0"/>
          </a:p>
        </p:txBody>
      </p:sp>
      <p:sp>
        <p:nvSpPr>
          <p:cNvPr id="28" name="Text 25"/>
          <p:cNvSpPr/>
          <p:nvPr/>
        </p:nvSpPr>
        <p:spPr>
          <a:xfrm>
            <a:off x="4343400" y="5440680"/>
            <a:ext cx="2834640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Vite 8 · Dev server</a:t>
            </a:r>
            <a:endParaRPr lang="es-GT" sz="900" noProof="0" dirty="0"/>
          </a:p>
        </p:txBody>
      </p:sp>
      <p:sp>
        <p:nvSpPr>
          <p:cNvPr id="29" name="Text 26"/>
          <p:cNvSpPr/>
          <p:nvPr/>
        </p:nvSpPr>
        <p:spPr>
          <a:xfrm>
            <a:off x="7772400" y="5440680"/>
            <a:ext cx="2834640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 5.3 · Responsive</a:t>
            </a:r>
            <a:endParaRPr lang="es-GT" sz="900" noProof="0" dirty="0"/>
          </a:p>
        </p:txBody>
      </p:sp>
      <p:sp>
        <p:nvSpPr>
          <p:cNvPr id="30" name="Text 27"/>
          <p:cNvSpPr/>
          <p:nvPr/>
        </p:nvSpPr>
        <p:spPr>
          <a:xfrm>
            <a:off x="914400" y="5833872"/>
            <a:ext cx="2834640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 · </a:t>
            </a:r>
            <a:r>
              <a:rPr lang="es-GT" sz="9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endParaRPr lang="es-GT" sz="900" noProof="0" dirty="0"/>
          </a:p>
        </p:txBody>
      </p:sp>
      <p:sp>
        <p:nvSpPr>
          <p:cNvPr id="31" name="Text 28"/>
          <p:cNvSpPr/>
          <p:nvPr/>
        </p:nvSpPr>
        <p:spPr>
          <a:xfrm>
            <a:off x="4343400" y="5833872"/>
            <a:ext cx="2834640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PDO · SQL seguro</a:t>
            </a:r>
            <a:endParaRPr lang="es-GT" sz="900" noProof="0" dirty="0"/>
          </a:p>
        </p:txBody>
      </p:sp>
      <p:sp>
        <p:nvSpPr>
          <p:cNvPr id="32" name="Text 29"/>
          <p:cNvSpPr/>
          <p:nvPr/>
        </p:nvSpPr>
        <p:spPr>
          <a:xfrm>
            <a:off x="7772400" y="5833872"/>
            <a:ext cx="2834640" cy="292608"/>
          </a:xfrm>
          <a:prstGeom prst="rect">
            <a:avLst/>
          </a:prstGeom>
          <a:solidFill>
            <a:srgbClr val="FFF3EA"/>
          </a:solidFill>
          <a:ln>
            <a:solidFill>
              <a:srgbClr val="FFF3EA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PHPMailer</a:t>
            </a: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Correo</a:t>
            </a:r>
            <a:endParaRPr lang="es-GT" sz="900" noProof="0" dirty="0"/>
          </a:p>
        </p:txBody>
      </p:sp>
      <p:sp>
        <p:nvSpPr>
          <p:cNvPr id="34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5" name="Text 31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6" name="Text 32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Arquitectura</a:t>
            </a:r>
            <a:endParaRPr lang="es-GT" sz="750" noProof="0" dirty="0"/>
          </a:p>
        </p:txBody>
      </p:sp>
      <p:sp>
        <p:nvSpPr>
          <p:cNvPr id="37" name="Text 33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de datos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RELACIONAL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 tablas para catálogo, ventas y postventa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base relacional mantiene la información transaccional: usuarios, productos, órdenes, pagos y facturas.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12648" y="1664208"/>
            <a:ext cx="5266944" cy="3849624"/>
          </a:xfrm>
          <a:prstGeom prst="roundRect">
            <a:avLst>
              <a:gd name="adj" fmla="val 1900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Shape 6"/>
          <p:cNvSpPr/>
          <p:nvPr/>
        </p:nvSpPr>
        <p:spPr>
          <a:xfrm>
            <a:off x="6309360" y="1810512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7"/>
          <p:cNvSpPr/>
          <p:nvPr/>
        </p:nvSpPr>
        <p:spPr>
          <a:xfrm>
            <a:off x="6446520" y="193852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92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Clientes y cuenta</a:t>
            </a:r>
            <a:endParaRPr lang="es-GT" sz="920" noProof="0" dirty="0"/>
          </a:p>
        </p:txBody>
      </p:sp>
      <p:sp>
        <p:nvSpPr>
          <p:cNvPr id="12" name="Text 8"/>
          <p:cNvSpPr/>
          <p:nvPr/>
        </p:nvSpPr>
        <p:spPr>
          <a:xfrm>
            <a:off x="6446520" y="2157984"/>
            <a:ext cx="19659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Usuarios, Direcciones, </a:t>
            </a:r>
            <a:r>
              <a:rPr lang="es-GT" sz="6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ListaDeseos</a:t>
            </a: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Reseñas</a:t>
            </a:r>
            <a:endParaRPr lang="es-GT" sz="650" noProof="0" dirty="0"/>
          </a:p>
        </p:txBody>
      </p:sp>
      <p:sp>
        <p:nvSpPr>
          <p:cNvPr id="13" name="Shape 9"/>
          <p:cNvSpPr/>
          <p:nvPr/>
        </p:nvSpPr>
        <p:spPr>
          <a:xfrm>
            <a:off x="8823960" y="1810512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Text 10"/>
          <p:cNvSpPr/>
          <p:nvPr/>
        </p:nvSpPr>
        <p:spPr>
          <a:xfrm>
            <a:off x="8961120" y="193852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92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Catálogo</a:t>
            </a:r>
            <a:endParaRPr lang="es-GT" sz="920" noProof="0" dirty="0"/>
          </a:p>
        </p:txBody>
      </p:sp>
      <p:sp>
        <p:nvSpPr>
          <p:cNvPr id="15" name="Text 11"/>
          <p:cNvSpPr/>
          <p:nvPr/>
        </p:nvSpPr>
        <p:spPr>
          <a:xfrm>
            <a:off x="8961120" y="2157984"/>
            <a:ext cx="19659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Categorías, Productos, Proveedores</a:t>
            </a:r>
            <a:endParaRPr lang="es-GT" sz="650" noProof="0" dirty="0"/>
          </a:p>
        </p:txBody>
      </p:sp>
      <p:sp>
        <p:nvSpPr>
          <p:cNvPr id="16" name="Shape 12"/>
          <p:cNvSpPr/>
          <p:nvPr/>
        </p:nvSpPr>
        <p:spPr>
          <a:xfrm>
            <a:off x="6309360" y="292608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3"/>
          <p:cNvSpPr/>
          <p:nvPr/>
        </p:nvSpPr>
        <p:spPr>
          <a:xfrm>
            <a:off x="6446520" y="305409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920" b="1" noProof="0" dirty="0">
                <a:solidFill>
                  <a:srgbClr val="EF44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Promociones</a:t>
            </a:r>
            <a:endParaRPr lang="es-GT" sz="920" noProof="0" dirty="0"/>
          </a:p>
        </p:txBody>
      </p:sp>
      <p:sp>
        <p:nvSpPr>
          <p:cNvPr id="18" name="Text 14"/>
          <p:cNvSpPr/>
          <p:nvPr/>
        </p:nvSpPr>
        <p:spPr>
          <a:xfrm>
            <a:off x="6446520" y="3273552"/>
            <a:ext cx="19659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Promociones, </a:t>
            </a:r>
            <a:r>
              <a:rPr lang="es-GT" sz="6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ProductosPromociones</a:t>
            </a:r>
            <a:endParaRPr lang="es-GT" sz="650" noProof="0" dirty="0"/>
          </a:p>
        </p:txBody>
      </p:sp>
      <p:sp>
        <p:nvSpPr>
          <p:cNvPr id="19" name="Shape 15"/>
          <p:cNvSpPr/>
          <p:nvPr/>
        </p:nvSpPr>
        <p:spPr>
          <a:xfrm>
            <a:off x="8823960" y="2926080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0" name="Text 16"/>
          <p:cNvSpPr/>
          <p:nvPr/>
        </p:nvSpPr>
        <p:spPr>
          <a:xfrm>
            <a:off x="8961120" y="3054096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920" b="1" noProof="0" dirty="0">
                <a:solidFill>
                  <a:srgbClr val="16A3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Ventas</a:t>
            </a:r>
            <a:endParaRPr lang="es-GT" sz="920" noProof="0" dirty="0"/>
          </a:p>
        </p:txBody>
      </p:sp>
      <p:sp>
        <p:nvSpPr>
          <p:cNvPr id="21" name="Text 17"/>
          <p:cNvSpPr/>
          <p:nvPr/>
        </p:nvSpPr>
        <p:spPr>
          <a:xfrm>
            <a:off x="8961120" y="3273552"/>
            <a:ext cx="19659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Ordenes, </a:t>
            </a:r>
            <a:r>
              <a:rPr lang="es-GT" sz="6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DetalleOrdenes</a:t>
            </a: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Pagos, Facturas</a:t>
            </a:r>
            <a:endParaRPr lang="es-GT" sz="650" noProof="0" dirty="0"/>
          </a:p>
        </p:txBody>
      </p:sp>
      <p:sp>
        <p:nvSpPr>
          <p:cNvPr id="22" name="Shape 18"/>
          <p:cNvSpPr/>
          <p:nvPr/>
        </p:nvSpPr>
        <p:spPr>
          <a:xfrm>
            <a:off x="6309360" y="4041648"/>
            <a:ext cx="2240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3" name="Text 19"/>
          <p:cNvSpPr/>
          <p:nvPr/>
        </p:nvSpPr>
        <p:spPr>
          <a:xfrm>
            <a:off x="6446520" y="4169664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GT" sz="920" b="1" noProof="0" dirty="0">
                <a:solidFill>
                  <a:srgbClr val="7C3AE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Postventa</a:t>
            </a:r>
            <a:endParaRPr lang="es-GT" sz="920" noProof="0" dirty="0"/>
          </a:p>
        </p:txBody>
      </p:sp>
      <p:sp>
        <p:nvSpPr>
          <p:cNvPr id="24" name="Text 20"/>
          <p:cNvSpPr/>
          <p:nvPr/>
        </p:nvSpPr>
        <p:spPr>
          <a:xfrm>
            <a:off x="6446520" y="4389120"/>
            <a:ext cx="196596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s-GT" sz="6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Devoluciones, </a:t>
            </a:r>
            <a:r>
              <a:rPr lang="es-GT" sz="6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DetalleDevoluciones</a:t>
            </a:r>
            <a:endParaRPr lang="es-GT" sz="650" noProof="0" dirty="0"/>
          </a:p>
        </p:txBody>
      </p:sp>
      <p:sp>
        <p:nvSpPr>
          <p:cNvPr id="28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9" name="Text 24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0" name="Text 25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relacional</a:t>
            </a:r>
            <a:endParaRPr lang="es-GT" sz="750" noProof="0" dirty="0"/>
          </a:p>
        </p:txBody>
      </p:sp>
      <p:sp>
        <p:nvSpPr>
          <p:cNvPr id="31" name="Text 2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s-GT" sz="800" noProof="0" dirty="0"/>
          </a:p>
        </p:txBody>
      </p:sp>
      <p:pic>
        <p:nvPicPr>
          <p:cNvPr id="32" name="Image 1" descr="/mnt/data/ppt_gen/assets/informe/page-08.png">
            <a:extLst>
              <a:ext uri="{FF2B5EF4-FFF2-40B4-BE49-F238E27FC236}">
                <a16:creationId xmlns:a16="http://schemas.microsoft.com/office/drawing/2014/main" id="{7B0170F2-D0DB-F019-42C1-B659A9BF9A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43" b="8367"/>
          <a:stretch>
            <a:fillRect/>
          </a:stretch>
        </p:blipFill>
        <p:spPr>
          <a:xfrm>
            <a:off x="1401580" y="1717934"/>
            <a:ext cx="3582649" cy="3782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NOSQL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700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2400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Reseñas almacenadas en MongoDB Atlas</a:t>
            </a:r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755354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 almacena las reseñas y las rutas de sus imágenes;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conserva las compras.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12648" y="1664208"/>
            <a:ext cx="5358384" cy="4032504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0" name="Shape 6"/>
          <p:cNvSpPr/>
          <p:nvPr/>
        </p:nvSpPr>
        <p:spPr>
          <a:xfrm>
            <a:off x="6309360" y="169164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001E2B"/>
          </a:solidFill>
          <a:ln w="12700">
            <a:solidFill>
              <a:srgbClr val="062234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7"/>
          <p:cNvSpPr/>
          <p:nvPr/>
        </p:nvSpPr>
        <p:spPr>
          <a:xfrm>
            <a:off x="6629400" y="202996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 de Reseña</a:t>
            </a:r>
            <a:endParaRPr lang="es-GT" sz="1400" noProof="0" dirty="0"/>
          </a:p>
        </p:txBody>
      </p:sp>
      <p:sp>
        <p:nvSpPr>
          <p:cNvPr id="14" name="Text 10"/>
          <p:cNvSpPr/>
          <p:nvPr/>
        </p:nvSpPr>
        <p:spPr>
          <a:xfrm>
            <a:off x="6629400" y="4901184"/>
            <a:ext cx="4526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 lnSpcReduction="10000"/>
          </a:bodyPr>
          <a:lstStyle/>
          <a:p>
            <a:pPr marL="0" indent="0">
              <a:buNone/>
            </a:pPr>
            <a:r>
              <a:rPr lang="es-GT" sz="1100" noProof="0" dirty="0">
                <a:solidFill>
                  <a:srgbClr val="BDE9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MongoDB Atlas aloja los datos. Compass permite consultar el mismo documento.</a:t>
            </a:r>
          </a:p>
        </p:txBody>
      </p:sp>
      <p:sp>
        <p:nvSpPr>
          <p:cNvPr id="16" name="Shape 1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2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18" name="Text 13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Modelo NoSQL</a:t>
            </a:r>
            <a:endParaRPr lang="es-GT" sz="750" noProof="0" dirty="0"/>
          </a:p>
        </p:txBody>
      </p:sp>
      <p:sp>
        <p:nvSpPr>
          <p:cNvPr id="19" name="Text 14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s-GT" sz="800" noProof="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CA445061-1FA0-9B05-5BAA-52159D977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383" y="2671756"/>
            <a:ext cx="4990761" cy="1713246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372625F-25BF-3D27-F397-2E7F2793F1DE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38776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Estructura del documento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A8D540-B854-19B1-780B-499A8080995E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08485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ResenaID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identifica la opinión.</a:t>
            </a:r>
          </a:p>
          <a:p>
            <a:endParaRPr lang="es-GT" sz="16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UsuarioID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y </a:t>
            </a: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ProductoID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relacionan al comprador con el producto.</a:t>
            </a:r>
          </a:p>
          <a:p>
            <a:endParaRPr lang="es-GT" sz="16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Calificacion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, Comentario y </a:t>
            </a: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FechaResena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describen la valoración.</a:t>
            </a:r>
          </a:p>
          <a:p>
            <a:endParaRPr lang="es-GT" sz="16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Estado controla su publicación.</a:t>
            </a:r>
          </a:p>
          <a:p>
            <a:endParaRPr lang="es-GT" sz="16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Imagenes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guarda rutas y </a:t>
            </a:r>
            <a:r>
              <a:rPr lang="es-GT" sz="16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Version</a:t>
            </a:r>
            <a:r>
              <a:rPr lang="es-GT" sz="16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controla cambios concurrentes.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 err="1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API, MVC Y SEGURIDAD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Código fuente organizado por responsabilidades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URL base, configuración de base de datos, rutas, estructura y API.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49834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960120" y="1956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Estructura MVC aplicada</a:t>
            </a:r>
            <a:endParaRPr lang="es-GT" sz="1500" noProof="0" dirty="0"/>
          </a:p>
        </p:txBody>
      </p:sp>
      <p:sp>
        <p:nvSpPr>
          <p:cNvPr id="10" name="Shape 7"/>
          <p:cNvSpPr/>
          <p:nvPr/>
        </p:nvSpPr>
        <p:spPr>
          <a:xfrm>
            <a:off x="960120" y="2514600"/>
            <a:ext cx="1417320" cy="34747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9EA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Text 8"/>
          <p:cNvSpPr/>
          <p:nvPr/>
        </p:nvSpPr>
        <p:spPr>
          <a:xfrm>
            <a:off x="1042416" y="262432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GT" sz="760" b="1" noProof="0" dirty="0">
                <a:solidFill>
                  <a:srgbClr val="08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r>
              <a:rPr lang="es-GT" sz="760" b="1" noProof="0" dirty="0" err="1">
                <a:solidFill>
                  <a:srgbClr val="08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</a:t>
            </a:r>
            <a:endParaRPr lang="es-GT" sz="760" noProof="0" dirty="0"/>
          </a:p>
        </p:txBody>
      </p:sp>
      <p:sp>
        <p:nvSpPr>
          <p:cNvPr id="12" name="Text 9"/>
          <p:cNvSpPr/>
          <p:nvPr/>
        </p:nvSpPr>
        <p:spPr>
          <a:xfrm>
            <a:off x="2587752" y="25877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Consultas SQL y PDO</a:t>
            </a:r>
            <a:endParaRPr lang="es-GT" sz="950" noProof="0" dirty="0"/>
          </a:p>
        </p:txBody>
      </p:sp>
      <p:sp>
        <p:nvSpPr>
          <p:cNvPr id="13" name="Shape 10"/>
          <p:cNvSpPr/>
          <p:nvPr/>
        </p:nvSpPr>
        <p:spPr>
          <a:xfrm>
            <a:off x="960120" y="3200400"/>
            <a:ext cx="1417320" cy="347472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E1C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Text 11"/>
          <p:cNvSpPr/>
          <p:nvPr/>
        </p:nvSpPr>
        <p:spPr>
          <a:xfrm>
            <a:off x="1042416" y="331012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GT" sz="760" b="1" noProof="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r>
              <a:rPr lang="es-GT" sz="760" b="1" noProof="0" dirty="0" err="1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controllers</a:t>
            </a:r>
            <a:endParaRPr lang="es-GT" sz="760" noProof="0" dirty="0"/>
          </a:p>
        </p:txBody>
      </p:sp>
      <p:sp>
        <p:nvSpPr>
          <p:cNvPr id="15" name="Text 12"/>
          <p:cNvSpPr/>
          <p:nvPr/>
        </p:nvSpPr>
        <p:spPr>
          <a:xfrm>
            <a:off x="2587752" y="32735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Validaciones y reglas</a:t>
            </a:r>
            <a:endParaRPr lang="es-GT" sz="950" noProof="0" dirty="0"/>
          </a:p>
        </p:txBody>
      </p:sp>
      <p:sp>
        <p:nvSpPr>
          <p:cNvPr id="16" name="Shape 13"/>
          <p:cNvSpPr/>
          <p:nvPr/>
        </p:nvSpPr>
        <p:spPr>
          <a:xfrm>
            <a:off x="960120" y="3886200"/>
            <a:ext cx="1417320" cy="34747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9EA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14"/>
          <p:cNvSpPr/>
          <p:nvPr/>
        </p:nvSpPr>
        <p:spPr>
          <a:xfrm>
            <a:off x="1042416" y="399592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GT" sz="760" b="1" noProof="0" dirty="0">
                <a:solidFill>
                  <a:srgbClr val="08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api/&lt;recurso&gt;</a:t>
            </a:r>
            <a:endParaRPr lang="es-GT" sz="760" noProof="0" dirty="0"/>
          </a:p>
        </p:txBody>
      </p:sp>
      <p:sp>
        <p:nvSpPr>
          <p:cNvPr id="18" name="Text 15"/>
          <p:cNvSpPr/>
          <p:nvPr/>
        </p:nvSpPr>
        <p:spPr>
          <a:xfrm>
            <a:off x="2587752" y="39593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HTTP, sesión y JSON</a:t>
            </a:r>
            <a:endParaRPr lang="es-GT" sz="950" noProof="0" dirty="0"/>
          </a:p>
        </p:txBody>
      </p:sp>
      <p:sp>
        <p:nvSpPr>
          <p:cNvPr id="19" name="Shape 16"/>
          <p:cNvSpPr/>
          <p:nvPr/>
        </p:nvSpPr>
        <p:spPr>
          <a:xfrm>
            <a:off x="960120" y="4572000"/>
            <a:ext cx="1417320" cy="347472"/>
          </a:xfrm>
          <a:prstGeom prst="roundRect">
            <a:avLst/>
          </a:prstGeom>
          <a:solidFill>
            <a:srgbClr val="FFF3EA"/>
          </a:solidFill>
          <a:ln w="12700">
            <a:solidFill>
              <a:srgbClr val="FFE1C7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0" name="Text 17"/>
          <p:cNvSpPr/>
          <p:nvPr/>
        </p:nvSpPr>
        <p:spPr>
          <a:xfrm>
            <a:off x="1042416" y="4681728"/>
            <a:ext cx="1234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s-GT" sz="760" b="1" noProof="0" dirty="0" err="1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</a:t>
            </a:r>
            <a:r>
              <a:rPr lang="es-GT" sz="760" b="1" noProof="0" dirty="0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s-GT" sz="760" b="1" noProof="0" dirty="0" err="1">
                <a:solidFill>
                  <a:srgbClr val="FF6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database.php</a:t>
            </a:r>
            <a:endParaRPr lang="es-GT" sz="760" noProof="0" dirty="0"/>
          </a:p>
        </p:txBody>
      </p:sp>
      <p:sp>
        <p:nvSpPr>
          <p:cNvPr id="21" name="Text 18"/>
          <p:cNvSpPr/>
          <p:nvPr/>
        </p:nvSpPr>
        <p:spPr>
          <a:xfrm>
            <a:off x="2587752" y="464515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5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Conexión </a:t>
            </a:r>
            <a:r>
              <a:rPr lang="es-GT" sz="95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endParaRPr lang="es-GT" sz="950" noProof="0" dirty="0"/>
          </a:p>
        </p:txBody>
      </p:sp>
      <p:sp>
        <p:nvSpPr>
          <p:cNvPr id="22" name="Shape 19"/>
          <p:cNvSpPr/>
          <p:nvPr/>
        </p:nvSpPr>
        <p:spPr>
          <a:xfrm>
            <a:off x="6172200" y="16916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3" name="Text 20"/>
          <p:cNvSpPr/>
          <p:nvPr/>
        </p:nvSpPr>
        <p:spPr>
          <a:xfrm>
            <a:off x="6446520" y="19568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Seguridad implementada</a:t>
            </a:r>
            <a:endParaRPr lang="es-GT" sz="1500" noProof="0" dirty="0"/>
          </a:p>
        </p:txBody>
      </p:sp>
      <p:sp>
        <p:nvSpPr>
          <p:cNvPr id="24" name="Shape 21"/>
          <p:cNvSpPr/>
          <p:nvPr/>
        </p:nvSpPr>
        <p:spPr>
          <a:xfrm>
            <a:off x="6492240" y="2468880"/>
            <a:ext cx="128016" cy="128016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5" name="Text 22"/>
          <p:cNvSpPr/>
          <p:nvPr/>
        </p:nvSpPr>
        <p:spPr>
          <a:xfrm>
            <a:off x="6784848" y="24323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 err="1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password_hash</a:t>
            </a: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/ </a:t>
            </a:r>
            <a:r>
              <a:rPr lang="es-GT" sz="930" noProof="0" dirty="0" err="1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password_verify</a:t>
            </a:r>
            <a:endParaRPr lang="es-GT" sz="930" noProof="0" dirty="0"/>
          </a:p>
        </p:txBody>
      </p:sp>
      <p:sp>
        <p:nvSpPr>
          <p:cNvPr id="26" name="Shape 23"/>
          <p:cNvSpPr/>
          <p:nvPr/>
        </p:nvSpPr>
        <p:spPr>
          <a:xfrm>
            <a:off x="6492240" y="2889504"/>
            <a:ext cx="128016" cy="128016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7" name="Text 24"/>
          <p:cNvSpPr/>
          <p:nvPr/>
        </p:nvSpPr>
        <p:spPr>
          <a:xfrm>
            <a:off x="6784848" y="28529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Consultas preparadas con PDO</a:t>
            </a:r>
            <a:endParaRPr lang="es-GT" sz="930" noProof="0" dirty="0"/>
          </a:p>
        </p:txBody>
      </p:sp>
      <p:sp>
        <p:nvSpPr>
          <p:cNvPr id="28" name="Shape 25"/>
          <p:cNvSpPr/>
          <p:nvPr/>
        </p:nvSpPr>
        <p:spPr>
          <a:xfrm>
            <a:off x="6492240" y="3310128"/>
            <a:ext cx="128016" cy="128016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9" name="Text 26"/>
          <p:cNvSpPr/>
          <p:nvPr/>
        </p:nvSpPr>
        <p:spPr>
          <a:xfrm>
            <a:off x="6784848" y="327355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Sesiones PHP y usuario activo</a:t>
            </a:r>
            <a:endParaRPr lang="es-GT" sz="930" noProof="0" dirty="0"/>
          </a:p>
        </p:txBody>
      </p:sp>
      <p:sp>
        <p:nvSpPr>
          <p:cNvPr id="30" name="Shape 27"/>
          <p:cNvSpPr/>
          <p:nvPr/>
        </p:nvSpPr>
        <p:spPr>
          <a:xfrm>
            <a:off x="6492240" y="3730752"/>
            <a:ext cx="128016" cy="128016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1" name="Text 28"/>
          <p:cNvSpPr/>
          <p:nvPr/>
        </p:nvSpPr>
        <p:spPr>
          <a:xfrm>
            <a:off x="6784848" y="369417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Permisos por rol Cliente / Administrador</a:t>
            </a:r>
            <a:endParaRPr lang="es-GT" sz="930" noProof="0" dirty="0"/>
          </a:p>
        </p:txBody>
      </p:sp>
      <p:sp>
        <p:nvSpPr>
          <p:cNvPr id="32" name="Shape 29"/>
          <p:cNvSpPr/>
          <p:nvPr/>
        </p:nvSpPr>
        <p:spPr>
          <a:xfrm>
            <a:off x="6492240" y="4151376"/>
            <a:ext cx="128016" cy="128016"/>
          </a:xfrm>
          <a:prstGeom prst="ellipse">
            <a:avLst/>
          </a:prstGeom>
          <a:solidFill>
            <a:srgbClr val="66A6FF"/>
          </a:solidFill>
          <a:ln w="12700">
            <a:solidFill>
              <a:srgbClr val="66A6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3" name="Text 30"/>
          <p:cNvSpPr/>
          <p:nvPr/>
        </p:nvSpPr>
        <p:spPr>
          <a:xfrm>
            <a:off x="6784848" y="411480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Validación de </a:t>
            </a:r>
            <a:r>
              <a:rPr lang="es-GT" sz="930" noProof="0" dirty="0" err="1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IDs</a:t>
            </a: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montos y fechas</a:t>
            </a:r>
            <a:endParaRPr lang="es-GT" sz="930" noProof="0" dirty="0"/>
          </a:p>
        </p:txBody>
      </p:sp>
      <p:sp>
        <p:nvSpPr>
          <p:cNvPr id="34" name="Shape 31"/>
          <p:cNvSpPr/>
          <p:nvPr/>
        </p:nvSpPr>
        <p:spPr>
          <a:xfrm>
            <a:off x="6492240" y="4572000"/>
            <a:ext cx="128016" cy="128016"/>
          </a:xfrm>
          <a:prstGeom prst="ellipse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5" name="Text 32"/>
          <p:cNvSpPr/>
          <p:nvPr/>
        </p:nvSpPr>
        <p:spPr>
          <a:xfrm>
            <a:off x="6784848" y="453542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30" noProof="0" dirty="0">
                <a:solidFill>
                  <a:srgbClr val="EAF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Transacciones y claves foráneas</a:t>
            </a:r>
            <a:endParaRPr lang="es-GT" sz="930" noProof="0" dirty="0"/>
          </a:p>
        </p:txBody>
      </p:sp>
      <p:sp>
        <p:nvSpPr>
          <p:cNvPr id="37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8" name="Text 34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9" name="Text 35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y seguridad</a:t>
            </a:r>
            <a:endParaRPr lang="es-GT" sz="750" noProof="0" dirty="0"/>
          </a:p>
        </p:txBody>
      </p:sp>
      <p:sp>
        <p:nvSpPr>
          <p:cNvPr id="40" name="Text 36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Confirmación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PEDIDO Y CORREO DE CONFIRMACIÓN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Flujo esperado al finalizar compra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botón de pedido envía datos a PHP, registra la compra, genera número de pedido y confirma al cliente.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85800" y="196596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Shape 6"/>
          <p:cNvSpPr/>
          <p:nvPr/>
        </p:nvSpPr>
        <p:spPr>
          <a:xfrm>
            <a:off x="896112" y="226771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4984" y="238658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2898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Carrito</a:t>
            </a:r>
            <a:endParaRPr lang="es-GT" sz="1400" noProof="0" dirty="0"/>
          </a:p>
        </p:txBody>
      </p:sp>
      <p:sp>
        <p:nvSpPr>
          <p:cNvPr id="12" name="Text 8"/>
          <p:cNvSpPr/>
          <p:nvPr/>
        </p:nvSpPr>
        <p:spPr>
          <a:xfrm>
            <a:off x="896112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Cliente revisa productos y presiona Realizar pedido</a:t>
            </a:r>
            <a:endParaRPr lang="es-GT" sz="860" noProof="0" dirty="0"/>
          </a:p>
        </p:txBody>
      </p:sp>
      <p:sp>
        <p:nvSpPr>
          <p:cNvPr id="13" name="Shape 9"/>
          <p:cNvSpPr/>
          <p:nvPr/>
        </p:nvSpPr>
        <p:spPr>
          <a:xfrm>
            <a:off x="3090672" y="3017520"/>
            <a:ext cx="310896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4" name="Shape 10"/>
          <p:cNvSpPr/>
          <p:nvPr/>
        </p:nvSpPr>
        <p:spPr>
          <a:xfrm>
            <a:off x="3474720" y="196596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Shape 11"/>
          <p:cNvSpPr/>
          <p:nvPr/>
        </p:nvSpPr>
        <p:spPr>
          <a:xfrm>
            <a:off x="3685032" y="226771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3904" y="23865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85032" y="2898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fetch</a:t>
            </a: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POST</a:t>
            </a:r>
            <a:endParaRPr lang="es-GT" sz="1400" noProof="0" dirty="0"/>
          </a:p>
        </p:txBody>
      </p:sp>
      <p:sp>
        <p:nvSpPr>
          <p:cNvPr id="18" name="Text 13"/>
          <p:cNvSpPr/>
          <p:nvPr/>
        </p:nvSpPr>
        <p:spPr>
          <a:xfrm>
            <a:off x="3685032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JavaScript envía JSON al </a:t>
            </a:r>
            <a:r>
              <a:rPr lang="es-GT" sz="86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endpoint</a:t>
            </a: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PHP</a:t>
            </a:r>
            <a:endParaRPr lang="es-GT" sz="860" noProof="0" dirty="0"/>
          </a:p>
        </p:txBody>
      </p:sp>
      <p:sp>
        <p:nvSpPr>
          <p:cNvPr id="19" name="Shape 14"/>
          <p:cNvSpPr/>
          <p:nvPr/>
        </p:nvSpPr>
        <p:spPr>
          <a:xfrm>
            <a:off x="5879592" y="3017520"/>
            <a:ext cx="310896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0" name="Shape 15"/>
          <p:cNvSpPr/>
          <p:nvPr/>
        </p:nvSpPr>
        <p:spPr>
          <a:xfrm>
            <a:off x="6263640" y="196596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Shape 16"/>
          <p:cNvSpPr/>
          <p:nvPr/>
        </p:nvSpPr>
        <p:spPr>
          <a:xfrm>
            <a:off x="6473952" y="226771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2824" y="2386584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73952" y="2898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 valida</a:t>
            </a:r>
            <a:endParaRPr lang="es-GT" sz="1400" noProof="0" dirty="0"/>
          </a:p>
        </p:txBody>
      </p:sp>
      <p:sp>
        <p:nvSpPr>
          <p:cNvPr id="24" name="Text 18"/>
          <p:cNvSpPr/>
          <p:nvPr/>
        </p:nvSpPr>
        <p:spPr>
          <a:xfrm>
            <a:off x="6473952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 pedido y detalle en MySQL/</a:t>
            </a:r>
            <a:r>
              <a:rPr lang="es-GT" sz="86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endParaRPr lang="es-GT" sz="860" noProof="0" dirty="0"/>
          </a:p>
        </p:txBody>
      </p:sp>
      <p:sp>
        <p:nvSpPr>
          <p:cNvPr id="25" name="Shape 19"/>
          <p:cNvSpPr/>
          <p:nvPr/>
        </p:nvSpPr>
        <p:spPr>
          <a:xfrm>
            <a:off x="8668512" y="3017520"/>
            <a:ext cx="310896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6" name="Shape 20"/>
          <p:cNvSpPr/>
          <p:nvPr/>
        </p:nvSpPr>
        <p:spPr>
          <a:xfrm>
            <a:off x="9052560" y="1965960"/>
            <a:ext cx="2395728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7" name="Shape 21"/>
          <p:cNvSpPr/>
          <p:nvPr/>
        </p:nvSpPr>
        <p:spPr>
          <a:xfrm>
            <a:off x="9262872" y="2267712"/>
            <a:ext cx="530352" cy="530352"/>
          </a:xfrm>
          <a:prstGeom prst="ellipse">
            <a:avLst/>
          </a:prstGeom>
          <a:solidFill>
            <a:srgbClr val="EEF5FF"/>
          </a:solidFill>
          <a:ln w="12700">
            <a:solidFill>
              <a:srgbClr val="D6E8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81744" y="2386584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62872" y="2898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PHPMailer</a:t>
            </a:r>
            <a:endParaRPr lang="es-GT" sz="1400" noProof="0" dirty="0"/>
          </a:p>
        </p:txBody>
      </p:sp>
      <p:sp>
        <p:nvSpPr>
          <p:cNvPr id="30" name="Text 23"/>
          <p:cNvSpPr/>
          <p:nvPr/>
        </p:nvSpPr>
        <p:spPr>
          <a:xfrm>
            <a:off x="9262872" y="3246120"/>
            <a:ext cx="18745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s-GT" sz="86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SMTP envía resumen al correo del cliente</a:t>
            </a:r>
            <a:endParaRPr lang="es-GT" sz="860" noProof="0" dirty="0"/>
          </a:p>
        </p:txBody>
      </p:sp>
      <p:sp>
        <p:nvSpPr>
          <p:cNvPr id="31" name="Shape 24"/>
          <p:cNvSpPr/>
          <p:nvPr/>
        </p:nvSpPr>
        <p:spPr>
          <a:xfrm>
            <a:off x="1920240" y="4800600"/>
            <a:ext cx="8321040" cy="804672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D9EA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2" name="Text 25"/>
          <p:cNvSpPr/>
          <p:nvPr/>
        </p:nvSpPr>
        <p:spPr>
          <a:xfrm>
            <a:off x="2148840" y="5020056"/>
            <a:ext cx="78638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s-GT" sz="95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Recomendación de seguridad: no confiar únicamente en el total enviado por JavaScript; PHP debe recalcular precios, validar existencia y usar consultas preparadas.</a:t>
            </a:r>
            <a:endParaRPr lang="es-GT" sz="950" noProof="0" dirty="0"/>
          </a:p>
        </p:txBody>
      </p:sp>
      <p:sp>
        <p:nvSpPr>
          <p:cNvPr id="34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35" name="Text 27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6" name="Text 28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+ correo</a:t>
            </a:r>
            <a:endParaRPr lang="es-GT" sz="750" noProof="0" dirty="0"/>
          </a:p>
        </p:txBody>
      </p:sp>
      <p:sp>
        <p:nvSpPr>
          <p:cNvPr id="37" name="Text 29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s-GT" sz="800" noProof="0" dirty="0"/>
          </a:p>
        </p:txBody>
      </p:sp>
      <p:pic>
        <p:nvPicPr>
          <p:cNvPr id="38" name="Imagen 37" descr="Carrito de compras - Iconos gratis de comercio">
            <a:extLst>
              <a:ext uri="{FF2B5EF4-FFF2-40B4-BE49-F238E27FC236}">
                <a16:creationId xmlns:a16="http://schemas.microsoft.com/office/drawing/2014/main" id="{559B79FE-AC3F-2977-5C1C-E18096E21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503" y="2366543"/>
            <a:ext cx="349225" cy="349225"/>
          </a:xfrm>
          <a:prstGeom prst="rect">
            <a:avLst/>
          </a:prstGeom>
        </p:spPr>
      </p:pic>
      <p:pic>
        <p:nvPicPr>
          <p:cNvPr id="39" name="Imagen 38" descr="Fetch - Free arrows icons">
            <a:extLst>
              <a:ext uri="{FF2B5EF4-FFF2-40B4-BE49-F238E27FC236}">
                <a16:creationId xmlns:a16="http://schemas.microsoft.com/office/drawing/2014/main" id="{49F1D48D-6A7F-B81C-A6DA-88A52BF9EE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2304" y="1696208"/>
            <a:ext cx="228603" cy="228603"/>
          </a:xfrm>
          <a:prstGeom prst="rect">
            <a:avLst/>
          </a:prstGeom>
        </p:spPr>
      </p:pic>
      <p:pic>
        <p:nvPicPr>
          <p:cNvPr id="40" name="Imagen 39" descr="Fetch File icon illustration 34872969 Vector Art at Vecteezy">
            <a:extLst>
              <a:ext uri="{FF2B5EF4-FFF2-40B4-BE49-F238E27FC236}">
                <a16:creationId xmlns:a16="http://schemas.microsoft.com/office/drawing/2014/main" id="{BEEF63D8-2D43-F3B1-9942-3D0592DC68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816" b="94286" l="5000" r="94388">
                        <a14:foregroundMark x1="17041" y1="28571" x2="19082" y2="28265"/>
                        <a14:foregroundMark x1="8469" y1="37347" x2="7551" y2="38673"/>
                        <a14:foregroundMark x1="31327" y1="53265" x2="32655" y2="51020"/>
                        <a14:foregroundMark x1="5000" y1="46531" x2="5000" y2="49388"/>
                        <a14:foregroundMark x1="48469" y1="6122" x2="51531" y2="6224"/>
                        <a14:foregroundMark x1="76531" y1="24694" x2="77653" y2="26735"/>
                        <a14:foregroundMark x1="93469" y1="40204" x2="94388" y2="41735"/>
                        <a14:foregroundMark x1="59388" y1="82755" x2="59388" y2="85000"/>
                        <a14:foregroundMark x1="62347" y1="93469" x2="65816" y2="93673"/>
                        <a14:foregroundMark x1="36735" y1="94286" x2="36224" y2="94184"/>
                        <a14:foregroundMark x1="31507" y1="51020" x2="31531" y2="51531"/>
                        <a14:foregroundMark x1="31429" y1="49388" x2="31482" y2="50510"/>
                        <a14:foregroundMark x1="31735" y1="49694" x2="31837" y2="51224"/>
                        <a14:foregroundMark x1="25102" y1="78980" x2="25102" y2="78980"/>
                        <a14:foregroundMark x1="49184" y1="78980" x2="49184" y2="78980"/>
                        <a14:backgroundMark x1="25918" y1="79898" x2="26531" y2="79796"/>
                        <a14:backgroundMark x1="45918" y1="80000" x2="45408" y2="8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1989" y="2307907"/>
            <a:ext cx="449962" cy="449962"/>
          </a:xfrm>
          <a:prstGeom prst="rect">
            <a:avLst/>
          </a:prstGeom>
        </p:spPr>
      </p:pic>
      <p:pic>
        <p:nvPicPr>
          <p:cNvPr id="43" name="Imagen 42" descr="Iconos, Logos, Símbolos de Logo php - Descarga Gratuita PNG, SVG">
            <a:extLst>
              <a:ext uri="{FF2B5EF4-FFF2-40B4-BE49-F238E27FC236}">
                <a16:creationId xmlns:a16="http://schemas.microsoft.com/office/drawing/2014/main" id="{8A22F01F-8B9B-A1C1-BA3A-D89DA25C3A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4250" r="97500">
                        <a14:foregroundMark x1="23583" y1="44750" x2="22417" y2="54417"/>
                        <a14:foregroundMark x1="46000" y1="38500" x2="43083" y2="50667"/>
                        <a14:foregroundMark x1="66917" y1="44333" x2="64333" y2="51500"/>
                        <a14:foregroundMark x1="36417" y1="72667" x2="47500" y2="74833"/>
                        <a14:foregroundMark x1="4333" y1="53500" x2="5750" y2="55500"/>
                        <a14:foregroundMark x1="89167" y1="37417" x2="93833" y2="40167"/>
                        <a14:foregroundMark x1="96417" y1="47500" x2="97500" y2="49333"/>
                        <a14:backgroundMark x1="52250" y1="30083" x2="46750" y2="29917"/>
                        <a14:backgroundMark x1="13917" y1="43583" x2="9417" y2="5141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1481" y="2315241"/>
            <a:ext cx="435293" cy="435293"/>
          </a:xfrm>
          <a:prstGeom prst="rect">
            <a:avLst/>
          </a:prstGeom>
        </p:spPr>
      </p:pic>
      <p:pic>
        <p:nvPicPr>
          <p:cNvPr id="44" name="Imagen 43" descr="Email - Iconos gratis de comunicaciones">
            <a:extLst>
              <a:ext uri="{FF2B5EF4-FFF2-40B4-BE49-F238E27FC236}">
                <a16:creationId xmlns:a16="http://schemas.microsoft.com/office/drawing/2014/main" id="{CC12F2C8-F281-B994-45FB-60F16614CFD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6024" y="2348122"/>
            <a:ext cx="395078" cy="3950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4CD8064-5666-87FB-2D6A-DB2287FDFD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E8A0C80-5AD2-CB23-ADF8-54C4D32125DC}"/>
              </a:ext>
            </a:extLst>
          </p:cNvPr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55864E4-CED2-B24B-0E16-3C75FD88DFC0}"/>
              </a:ext>
            </a:extLst>
          </p:cNvPr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HTTP</a:t>
            </a:r>
            <a:endParaRPr lang="es-GT" sz="800" noProof="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3E5D027F-47EB-E409-729D-879A9C736CC1}"/>
              </a:ext>
            </a:extLst>
          </p:cNvPr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 DE UNA PETICIÓN HTTP</a:t>
            </a:r>
            <a:endParaRPr lang="es-GT" sz="850" noProof="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2486DC92-D7CA-1553-FB23-029DF61A834B}"/>
              </a:ext>
            </a:extLst>
          </p:cNvPr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 de Catálogo mediante la API</a:t>
            </a:r>
            <a:endParaRPr lang="es-GT" sz="2400" noProof="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6EAB4457-BB76-6283-30AC-996F3365A45C}"/>
              </a:ext>
            </a:extLst>
          </p:cNvPr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consulta el catálogo mediante GET y recibe los datos de los productos en formato JSON.</a:t>
            </a:r>
            <a:endParaRPr lang="es-GT" sz="1050" noProof="0" dirty="0"/>
          </a:p>
        </p:txBody>
      </p:sp>
      <p:sp>
        <p:nvSpPr>
          <p:cNvPr id="15" name="Shape 25">
            <a:extLst>
              <a:ext uri="{FF2B5EF4-FFF2-40B4-BE49-F238E27FC236}">
                <a16:creationId xmlns:a16="http://schemas.microsoft.com/office/drawing/2014/main" id="{D718768E-5C6D-C3AB-95A2-9A4567155940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7" name="Text 26">
            <a:extLst>
              <a:ext uri="{FF2B5EF4-FFF2-40B4-BE49-F238E27FC236}">
                <a16:creationId xmlns:a16="http://schemas.microsoft.com/office/drawing/2014/main" id="{7FB9753E-E2C6-AD9D-2A7F-D3DD836236E3}"/>
              </a:ext>
            </a:extLst>
          </p:cNvPr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84EE5984-3A92-272E-F1C9-9E6CEE03B866}"/>
              </a:ext>
            </a:extLst>
          </p:cNvPr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Petición HTTP</a:t>
            </a:r>
            <a:endParaRPr lang="es-GT" sz="750" noProof="0" dirty="0"/>
          </a:p>
        </p:txBody>
      </p:sp>
      <p:sp>
        <p:nvSpPr>
          <p:cNvPr id="21" name="Text 28">
            <a:extLst>
              <a:ext uri="{FF2B5EF4-FFF2-40B4-BE49-F238E27FC236}">
                <a16:creationId xmlns:a16="http://schemas.microsoft.com/office/drawing/2014/main" id="{F89BD5F9-3047-167B-FFA8-9E0205E69D56}"/>
              </a:ext>
            </a:extLst>
          </p:cNvPr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s-GT" sz="800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72F94319-6500-5824-5AB9-F7C9ABA7C14B}"/>
              </a:ext>
            </a:extLst>
          </p:cNvPr>
          <p:cNvSpPr/>
          <p:nvPr/>
        </p:nvSpPr>
        <p:spPr>
          <a:xfrm>
            <a:off x="658368" y="1783080"/>
            <a:ext cx="543763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8" name="Shape 31">
            <a:extLst>
              <a:ext uri="{FF2B5EF4-FFF2-40B4-BE49-F238E27FC236}">
                <a16:creationId xmlns:a16="http://schemas.microsoft.com/office/drawing/2014/main" id="{3B769BEC-2261-E25F-6C6A-4521E7EA4C3C}"/>
              </a:ext>
            </a:extLst>
          </p:cNvPr>
          <p:cNvSpPr/>
          <p:nvPr/>
        </p:nvSpPr>
        <p:spPr>
          <a:xfrm>
            <a:off x="6451656" y="1783080"/>
            <a:ext cx="5083165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838759-A004-A662-D857-5CCEC73EED5C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Solicitud y respuesta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4BA230-847D-510A-E0A2-0BB8EEE2307B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409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1.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React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solicita el recurso con GET.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2. PHP recibe la petición y consulta los datos.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3. La API devuelve un estado HTTP y JSON.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4.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React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presenta los productos recibidos.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0C0A95F-5184-2C51-8496-6E2EF8BE6CAC}"/>
              </a:ext>
            </a:extLst>
          </p:cNvPr>
          <p:cNvSpPr>
            <a:spLocks noGrp="1"/>
          </p:cNvSpPr>
          <p:nvPr/>
        </p:nvSpPr>
        <p:spPr>
          <a:xfrm>
            <a:off x="6616750" y="1924050"/>
            <a:ext cx="475297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Tarjeta de producto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69B1E0F-94C3-4F8E-E360-18DAC1267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2798064"/>
            <a:ext cx="4453359" cy="238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5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9">
            <a:extLst>
              <a:ext uri="{FF2B5EF4-FFF2-40B4-BE49-F238E27FC236}">
                <a16:creationId xmlns:a16="http://schemas.microsoft.com/office/drawing/2014/main" id="{95C6C9B6-AC78-83CA-39C3-F286E4C4A0F1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5" name="Text 40">
            <a:extLst>
              <a:ext uri="{FF2B5EF4-FFF2-40B4-BE49-F238E27FC236}">
                <a16:creationId xmlns:a16="http://schemas.microsoft.com/office/drawing/2014/main" id="{5F2555E4-9CFB-C58B-3790-A089D03BE949}"/>
              </a:ext>
            </a:extLst>
          </p:cNvPr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7" name="Text 41">
            <a:extLst>
              <a:ext uri="{FF2B5EF4-FFF2-40B4-BE49-F238E27FC236}">
                <a16:creationId xmlns:a16="http://schemas.microsoft.com/office/drawing/2014/main" id="{C1941FE9-DA41-F96D-9D22-1C88636911E6}"/>
              </a:ext>
            </a:extLst>
          </p:cNvPr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de países</a:t>
            </a:r>
            <a:endParaRPr lang="es-GT" sz="750" noProof="0" dirty="0"/>
          </a:p>
        </p:txBody>
      </p:sp>
      <p:sp>
        <p:nvSpPr>
          <p:cNvPr id="9" name="Text 42">
            <a:extLst>
              <a:ext uri="{FF2B5EF4-FFF2-40B4-BE49-F238E27FC236}">
                <a16:creationId xmlns:a16="http://schemas.microsoft.com/office/drawing/2014/main" id="{C779DEEE-68B2-CA1C-8E0C-DFB9C54524E5}"/>
              </a:ext>
            </a:extLst>
          </p:cNvPr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s-GT" sz="800" noProof="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7A42ED8-D2C0-D0E3-73C1-CFEE53CFCD8C}"/>
              </a:ext>
            </a:extLst>
          </p:cNvPr>
          <p:cNvSpPr/>
          <p:nvPr/>
        </p:nvSpPr>
        <p:spPr>
          <a:xfrm>
            <a:off x="658368" y="1783080"/>
            <a:ext cx="543763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8" name="Shape 31">
            <a:extLst>
              <a:ext uri="{FF2B5EF4-FFF2-40B4-BE49-F238E27FC236}">
                <a16:creationId xmlns:a16="http://schemas.microsoft.com/office/drawing/2014/main" id="{3847E897-461B-3D75-FACB-AE277739463A}"/>
              </a:ext>
            </a:extLst>
          </p:cNvPr>
          <p:cNvSpPr/>
          <p:nvPr/>
        </p:nvSpPr>
        <p:spPr>
          <a:xfrm>
            <a:off x="6256782" y="1783080"/>
            <a:ext cx="5264658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8556987-7204-9B03-E405-2F76FB459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54B95CFA-83D9-DC96-3F63-9F9A18AAB54E}"/>
              </a:ext>
            </a:extLst>
          </p:cNvPr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7839E0BF-A83D-626F-3536-24530B1E7E7A}"/>
              </a:ext>
            </a:extLst>
          </p:cNvPr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 </a:t>
            </a:r>
            <a:r>
              <a:rPr lang="es-GT" sz="800" b="1" noProof="0" dirty="0" err="1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Countries</a:t>
            </a:r>
            <a:endParaRPr lang="es-GT" sz="800" noProof="0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629D011-A68C-5028-1F75-57C2F044CA85}"/>
              </a:ext>
            </a:extLst>
          </p:cNvPr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 EXTERNA DE PAÍSES</a:t>
            </a:r>
            <a:endParaRPr lang="es-GT" sz="850" noProof="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1C99E3A-FF78-1896-1BA3-618D54C22EA3}"/>
              </a:ext>
            </a:extLst>
          </p:cNvPr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 consulta REST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Countries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y entrega al formulario un listado de países con caché de 24 horas.</a:t>
            </a:r>
            <a:endParaRPr lang="es-GT" sz="1050" noProof="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00A1FEA-1012-DE8E-CE79-04782239655B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Integración con REST </a:t>
            </a:r>
            <a:r>
              <a:rPr lang="es-GT" sz="1875" b="1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Countries</a:t>
            </a:r>
            <a:endParaRPr lang="es-GT" sz="1875" b="1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92C1309-407E-B1A3-99B9-732BE189D5EB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409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1. El formulario consulta api/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paises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/.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2. PHP invoca REST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Countries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con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cURL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3. El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backend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procesa la respuesta JSON.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4. La caché conserva el listado durante 24 horas.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5. El usuario selecciona el país de su dirección.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D7F769C-46FF-AC8A-3882-AA5264576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59" r="49631"/>
          <a:stretch>
            <a:fillRect/>
          </a:stretch>
        </p:blipFill>
        <p:spPr>
          <a:xfrm>
            <a:off x="6517799" y="2352676"/>
            <a:ext cx="4742623" cy="2812024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72790139-BC1E-15E2-2F23-0649C2F628DB}"/>
              </a:ext>
            </a:extLst>
          </p:cNvPr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 de países desde el servidor PHP</a:t>
            </a:r>
            <a:endParaRPr lang="es-GT" sz="2400" noProof="0" dirty="0"/>
          </a:p>
        </p:txBody>
      </p:sp>
    </p:spTree>
    <p:extLst>
      <p:ext uri="{BB962C8B-B14F-4D97-AF65-F5344CB8AC3E}">
        <p14:creationId xmlns:p14="http://schemas.microsoft.com/office/powerpoint/2010/main" val="4102619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0B4842AD-6939-2D10-6760-87A4591C1B0B}"/>
              </a:ext>
            </a:extLst>
          </p:cNvPr>
          <p:cNvSpPr/>
          <p:nvPr/>
        </p:nvSpPr>
        <p:spPr>
          <a:xfrm>
            <a:off x="658368" y="1783080"/>
            <a:ext cx="543763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5" name="Shape 31">
            <a:extLst>
              <a:ext uri="{FF2B5EF4-FFF2-40B4-BE49-F238E27FC236}">
                <a16:creationId xmlns:a16="http://schemas.microsoft.com/office/drawing/2014/main" id="{CB5A19EE-5610-AC22-B89A-75A7DDC189A4}"/>
              </a:ext>
            </a:extLst>
          </p:cNvPr>
          <p:cNvSpPr/>
          <p:nvPr/>
        </p:nvSpPr>
        <p:spPr>
          <a:xfrm>
            <a:off x="6256782" y="1783080"/>
            <a:ext cx="5264658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D28CFE0-5850-99EA-4955-CB727D3E0CD1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Operaciones del </a:t>
            </a:r>
            <a:r>
              <a:rPr lang="es-GT" sz="1875" b="1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backend</a:t>
            </a:r>
            <a:endParaRPr lang="es-GT" sz="1875" b="1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5CC6B5-4696-9812-FBDF-7D484B786C98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409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1. Valida usuario, direcciones y productos.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2. Comprueba precios y existencias.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3. Guarda orden, detalles, factura y pago dentro de una transacción.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4. Descuenta inventario y ejecuta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commit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5. Inicia el envío del correo de confirmación.</a:t>
            </a:r>
          </a:p>
        </p:txBody>
      </p:sp>
      <p:sp>
        <p:nvSpPr>
          <p:cNvPr id="11" name="Shape 39">
            <a:extLst>
              <a:ext uri="{FF2B5EF4-FFF2-40B4-BE49-F238E27FC236}">
                <a16:creationId xmlns:a16="http://schemas.microsoft.com/office/drawing/2014/main" id="{A5CC36D6-0547-44AD-897A-AAC9FE17E5B5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3" name="Text 40">
            <a:extLst>
              <a:ext uri="{FF2B5EF4-FFF2-40B4-BE49-F238E27FC236}">
                <a16:creationId xmlns:a16="http://schemas.microsoft.com/office/drawing/2014/main" id="{D51C5992-7871-46F0-961B-4218D01ACC95}"/>
              </a:ext>
            </a:extLst>
          </p:cNvPr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15" name="Text 41">
            <a:extLst>
              <a:ext uri="{FF2B5EF4-FFF2-40B4-BE49-F238E27FC236}">
                <a16:creationId xmlns:a16="http://schemas.microsoft.com/office/drawing/2014/main" id="{CD9864CA-7899-A2C0-FA4C-ECF3A4710E59}"/>
              </a:ext>
            </a:extLst>
          </p:cNvPr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Orden e inventario</a:t>
            </a:r>
            <a:endParaRPr lang="es-GT" sz="750" noProof="0" dirty="0"/>
          </a:p>
        </p:txBody>
      </p:sp>
      <p:sp>
        <p:nvSpPr>
          <p:cNvPr id="17" name="Text 42">
            <a:extLst>
              <a:ext uri="{FF2B5EF4-FFF2-40B4-BE49-F238E27FC236}">
                <a16:creationId xmlns:a16="http://schemas.microsoft.com/office/drawing/2014/main" id="{E45B9F73-A49E-C60A-2D4F-978F63F6B9D6}"/>
              </a:ext>
            </a:extLst>
          </p:cNvPr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s-GT" sz="800" noProof="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CBAC64DD-7A1A-AF3E-A805-A66BF0D328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21" name="Text 0">
            <a:extLst>
              <a:ext uri="{FF2B5EF4-FFF2-40B4-BE49-F238E27FC236}">
                <a16:creationId xmlns:a16="http://schemas.microsoft.com/office/drawing/2014/main" id="{08530162-85E3-1D75-D05C-1E343C1BC83E}"/>
              </a:ext>
            </a:extLst>
          </p:cNvPr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EE471449-52C3-C737-0D62-DA6916C64505}"/>
              </a:ext>
            </a:extLst>
          </p:cNvPr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Transacciones</a:t>
            </a:r>
            <a:endParaRPr lang="es-GT" sz="800" noProof="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7BAEB9E1-854C-4380-34FE-2372E531D5CA}"/>
              </a:ext>
            </a:extLst>
          </p:cNvPr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 TRANSACCIONAL</a:t>
            </a:r>
            <a:endParaRPr lang="es-GT" sz="850" noProof="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1713513-0B58-99CB-185C-1F891DD830A0}"/>
              </a:ext>
            </a:extLst>
          </p:cNvPr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registra la compra y actualiza las existencias en una transacción antes de enviar el correo.</a:t>
            </a:r>
            <a:endParaRPr lang="es-GT" sz="1050" noProof="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9FE03F13-7E25-4270-D12F-A14946B43A9B}"/>
              </a:ext>
            </a:extLst>
          </p:cNvPr>
          <p:cNvSpPr/>
          <p:nvPr/>
        </p:nvSpPr>
        <p:spPr>
          <a:xfrm>
            <a:off x="548639" y="713232"/>
            <a:ext cx="74411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 de la orden y actualización del inventario</a:t>
            </a:r>
            <a:endParaRPr lang="es-GT" sz="2400" noProof="0" dirty="0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C35905A9-71EF-D64B-F953-9BFCCE60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071"/>
          <a:stretch>
            <a:fillRect/>
          </a:stretch>
        </p:blipFill>
        <p:spPr>
          <a:xfrm>
            <a:off x="6323043" y="1987718"/>
            <a:ext cx="5132136" cy="382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91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5">
            <a:extLst>
              <a:ext uri="{FF2B5EF4-FFF2-40B4-BE49-F238E27FC236}">
                <a16:creationId xmlns:a16="http://schemas.microsoft.com/office/drawing/2014/main" id="{4D9BE30E-9086-B44A-A0C3-1F021BC91D6E}"/>
              </a:ext>
            </a:extLst>
          </p:cNvPr>
          <p:cNvSpPr/>
          <p:nvPr/>
        </p:nvSpPr>
        <p:spPr>
          <a:xfrm>
            <a:off x="658368" y="1783080"/>
            <a:ext cx="5437632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5" name="Shape 31">
            <a:extLst>
              <a:ext uri="{FF2B5EF4-FFF2-40B4-BE49-F238E27FC236}">
                <a16:creationId xmlns:a16="http://schemas.microsoft.com/office/drawing/2014/main" id="{D141E5E6-CA0E-E40B-CF59-6A9919316CD3}"/>
              </a:ext>
            </a:extLst>
          </p:cNvPr>
          <p:cNvSpPr/>
          <p:nvPr/>
        </p:nvSpPr>
        <p:spPr>
          <a:xfrm>
            <a:off x="6256782" y="1783080"/>
            <a:ext cx="5264658" cy="4160520"/>
          </a:xfrm>
          <a:prstGeom prst="roundRect">
            <a:avLst>
              <a:gd name="adj" fmla="val 1758"/>
            </a:avLst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F3EC6EA-F8B0-092F-585D-714291B427B7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75" b="1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75" b="1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Envío después de la compra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72064E9-A14E-09E2-AB34-902DCC70534B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4933950" cy="3409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defPPr>
          </a:lstStyle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PHPMailer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 construye el mensaje de la orden.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La conexión SMTP lo envía a </a:t>
            </a:r>
            <a:r>
              <a:rPr lang="es-GT" sz="1800" b="0" noProof="0" dirty="0" err="1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Ethereal</a:t>
            </a: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El mensaje incluye el resumen de compra.</a:t>
            </a:r>
          </a:p>
          <a:p>
            <a:endParaRPr lang="es-GT" sz="1800" b="0" noProof="0" dirty="0">
              <a:solidFill>
                <a:srgbClr val="142037"/>
              </a:solidFill>
              <a:latin typeface="Manrope"/>
              <a:ea typeface="Manrope"/>
              <a:cs typeface="Manrope"/>
            </a:endParaRPr>
          </a:p>
          <a:p>
            <a:pPr>
              <a:defRPr sz="1800" b="0">
                <a:solidFill>
                  <a:srgbClr val="142037"/>
                </a:solidFill>
                <a:latin typeface="Manrope"/>
                <a:ea typeface="Manrope"/>
                <a:cs typeface="Manrope"/>
              </a:defRPr>
            </a:pPr>
            <a:r>
              <a:rPr lang="es-GT" sz="1800" b="0" noProof="0" dirty="0">
                <a:solidFill>
                  <a:srgbClr val="142037"/>
                </a:solidFill>
                <a:latin typeface="Manrope"/>
                <a:ea typeface="Manrope"/>
                <a:cs typeface="Manrope"/>
              </a:rPr>
              <a:t>El número de orden vincula el correo con la confirmación de la tienda.</a:t>
            </a:r>
          </a:p>
        </p:txBody>
      </p:sp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D4EE8DE2-8F79-AFCE-0E47-C67E45B00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D6EF6407-4DC5-7FDF-4EBA-C5349B22324E}"/>
              </a:ext>
            </a:extLst>
          </p:cNvPr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5C0AEFF8-6077-519A-AB1F-88D78E69F9EE}"/>
              </a:ext>
            </a:extLst>
          </p:cNvPr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 err="1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Ethereal</a:t>
            </a: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Email</a:t>
            </a:r>
            <a:endParaRPr lang="es-GT" sz="800" noProof="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077EE5-92E9-B4CD-2734-ECDCDAE458B9}"/>
              </a:ext>
            </a:extLst>
          </p:cNvPr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CORREO DE CONFIRMACIÓN</a:t>
            </a:r>
            <a:endParaRPr lang="es-GT" sz="850" noProof="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174C8E73-8EA1-9BB9-DD8E-4C770EF010A5}"/>
              </a:ext>
            </a:extLst>
          </p:cNvPr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Después del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PHPMailer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envía por SMTP el resumen de la orden que se consulta en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Ethereal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s-GT" sz="1050" noProof="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7CFE6193-408A-336C-03B2-9CED4FC489DE}"/>
              </a:ext>
            </a:extLst>
          </p:cNvPr>
          <p:cNvSpPr/>
          <p:nvPr/>
        </p:nvSpPr>
        <p:spPr>
          <a:xfrm>
            <a:off x="548639" y="713232"/>
            <a:ext cx="74411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Mensaje recibido en </a:t>
            </a:r>
            <a:r>
              <a:rPr lang="es-GT" sz="24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Ethereal</a:t>
            </a: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Email</a:t>
            </a:r>
            <a:endParaRPr lang="es-GT" sz="2400" noProof="0" dirty="0"/>
          </a:p>
        </p:txBody>
      </p:sp>
      <p:sp>
        <p:nvSpPr>
          <p:cNvPr id="27" name="Shape 39">
            <a:extLst>
              <a:ext uri="{FF2B5EF4-FFF2-40B4-BE49-F238E27FC236}">
                <a16:creationId xmlns:a16="http://schemas.microsoft.com/office/drawing/2014/main" id="{11399E35-41CB-1C22-154A-F8ECEE53D2B5}"/>
              </a:ext>
            </a:extLst>
          </p:cNvPr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9" name="Text 40">
            <a:extLst>
              <a:ext uri="{FF2B5EF4-FFF2-40B4-BE49-F238E27FC236}">
                <a16:creationId xmlns:a16="http://schemas.microsoft.com/office/drawing/2014/main" id="{736B3932-DA3F-1BF8-0292-FE1E5094A5D4}"/>
              </a:ext>
            </a:extLst>
          </p:cNvPr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31" name="Text 41">
            <a:extLst>
              <a:ext uri="{FF2B5EF4-FFF2-40B4-BE49-F238E27FC236}">
                <a16:creationId xmlns:a16="http://schemas.microsoft.com/office/drawing/2014/main" id="{03A693FC-78D7-C731-C0A4-5FE9F454EC13}"/>
              </a:ext>
            </a:extLst>
          </p:cNvPr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Correo de confirmación</a:t>
            </a:r>
            <a:endParaRPr lang="es-GT" sz="750" noProof="0" dirty="0"/>
          </a:p>
        </p:txBody>
      </p:sp>
      <p:sp>
        <p:nvSpPr>
          <p:cNvPr id="33" name="Text 42">
            <a:extLst>
              <a:ext uri="{FF2B5EF4-FFF2-40B4-BE49-F238E27FC236}">
                <a16:creationId xmlns:a16="http://schemas.microsoft.com/office/drawing/2014/main" id="{ADA77AD0-5A79-51C0-157A-045C74A59C0A}"/>
              </a:ext>
            </a:extLst>
          </p:cNvPr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s-GT" sz="800" noProof="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0B2F44F4-90C9-ADEB-69B2-0318D8F94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900" y="2042431"/>
            <a:ext cx="5100422" cy="35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810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1240" y="22860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0424" y="24688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4" name="Text 1"/>
          <p:cNvSpPr/>
          <p:nvPr/>
        </p:nvSpPr>
        <p:spPr>
          <a:xfrm>
            <a:off x="7452360" y="292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8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Pruebas</a:t>
            </a:r>
            <a:endParaRPr lang="es-GT" sz="800" noProof="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85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CASOS Y RUTINAS DE PRUEBA</a:t>
            </a:r>
            <a:endParaRPr lang="es-GT" sz="850" noProof="0" dirty="0"/>
          </a:p>
        </p:txBody>
      </p:sp>
      <p:sp>
        <p:nvSpPr>
          <p:cNvPr id="6" name="Text 3"/>
          <p:cNvSpPr/>
          <p:nvPr/>
        </p:nvSpPr>
        <p:spPr>
          <a:xfrm>
            <a:off x="548640" y="713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24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Evidencia de funcionamiento</a:t>
            </a:r>
            <a:endParaRPr lang="es-GT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234440"/>
            <a:ext cx="65836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lineamientos solicitan presentar rutinas de prueba; esta matriz resume la verificación UI y </a:t>
            </a:r>
            <a:r>
              <a:rPr lang="es-GT" sz="10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r>
              <a:rPr lang="es-GT" sz="10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s-GT" sz="1050" noProof="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57150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960120" y="1956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Pruebas de interfaz</a:t>
            </a:r>
            <a:endParaRPr lang="es-GT" sz="1500" noProof="0" dirty="0"/>
          </a:p>
        </p:txBody>
      </p:sp>
      <p:sp>
        <p:nvSpPr>
          <p:cNvPr id="10" name="Text 7"/>
          <p:cNvSpPr/>
          <p:nvPr/>
        </p:nvSpPr>
        <p:spPr>
          <a:xfrm>
            <a:off x="960120" y="2450592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UI01</a:t>
            </a:r>
            <a:endParaRPr lang="es-GT" sz="900" noProof="0" dirty="0"/>
          </a:p>
        </p:txBody>
      </p:sp>
      <p:sp>
        <p:nvSpPr>
          <p:cNvPr id="11" name="Text 8"/>
          <p:cNvSpPr/>
          <p:nvPr/>
        </p:nvSpPr>
        <p:spPr>
          <a:xfrm>
            <a:off x="1719072" y="249631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Carga inicial</a:t>
            </a:r>
            <a:endParaRPr lang="es-GT" sz="900" noProof="0" dirty="0"/>
          </a:p>
        </p:txBody>
      </p:sp>
      <p:sp>
        <p:nvSpPr>
          <p:cNvPr id="12" name="Text 9"/>
          <p:cNvSpPr/>
          <p:nvPr/>
        </p:nvSpPr>
        <p:spPr>
          <a:xfrm>
            <a:off x="960120" y="2788920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UI02</a:t>
            </a:r>
            <a:endParaRPr lang="es-GT" sz="900" noProof="0" dirty="0"/>
          </a:p>
        </p:txBody>
      </p:sp>
      <p:sp>
        <p:nvSpPr>
          <p:cNvPr id="13" name="Text 10"/>
          <p:cNvSpPr/>
          <p:nvPr/>
        </p:nvSpPr>
        <p:spPr>
          <a:xfrm>
            <a:off x="1719072" y="283464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Bootstrap</a:t>
            </a:r>
            <a:endParaRPr lang="es-GT" sz="900" noProof="0" dirty="0"/>
          </a:p>
        </p:txBody>
      </p:sp>
      <p:sp>
        <p:nvSpPr>
          <p:cNvPr id="14" name="Text 11"/>
          <p:cNvSpPr/>
          <p:nvPr/>
        </p:nvSpPr>
        <p:spPr>
          <a:xfrm>
            <a:off x="960120" y="3127248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UI03</a:t>
            </a:r>
            <a:endParaRPr lang="es-GT" sz="900" noProof="0" dirty="0"/>
          </a:p>
        </p:txBody>
      </p:sp>
      <p:sp>
        <p:nvSpPr>
          <p:cNvPr id="15" name="Text 12"/>
          <p:cNvSpPr/>
          <p:nvPr/>
        </p:nvSpPr>
        <p:spPr>
          <a:xfrm>
            <a:off x="1719072" y="317296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</a:t>
            </a:r>
            <a:endParaRPr lang="es-GT" sz="900" noProof="0" dirty="0"/>
          </a:p>
        </p:txBody>
      </p:sp>
      <p:sp>
        <p:nvSpPr>
          <p:cNvPr id="16" name="Text 13"/>
          <p:cNvSpPr/>
          <p:nvPr/>
        </p:nvSpPr>
        <p:spPr>
          <a:xfrm>
            <a:off x="960120" y="3465576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UI04</a:t>
            </a:r>
            <a:endParaRPr lang="es-GT" sz="900" noProof="0" dirty="0"/>
          </a:p>
        </p:txBody>
      </p:sp>
      <p:sp>
        <p:nvSpPr>
          <p:cNvPr id="17" name="Text 14"/>
          <p:cNvSpPr/>
          <p:nvPr/>
        </p:nvSpPr>
        <p:spPr>
          <a:xfrm>
            <a:off x="1719072" y="3511296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Búsqueda</a:t>
            </a:r>
            <a:endParaRPr lang="es-GT" sz="900" noProof="0" dirty="0"/>
          </a:p>
        </p:txBody>
      </p:sp>
      <p:sp>
        <p:nvSpPr>
          <p:cNvPr id="18" name="Text 15"/>
          <p:cNvSpPr/>
          <p:nvPr/>
        </p:nvSpPr>
        <p:spPr>
          <a:xfrm>
            <a:off x="960120" y="3803904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UI05</a:t>
            </a:r>
            <a:endParaRPr lang="es-GT" sz="900" noProof="0" dirty="0"/>
          </a:p>
        </p:txBody>
      </p:sp>
      <p:sp>
        <p:nvSpPr>
          <p:cNvPr id="19" name="Text 16"/>
          <p:cNvSpPr/>
          <p:nvPr/>
        </p:nvSpPr>
        <p:spPr>
          <a:xfrm>
            <a:off x="1719072" y="384962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Carrito</a:t>
            </a:r>
            <a:endParaRPr lang="es-GT" sz="900" noProof="0" dirty="0"/>
          </a:p>
        </p:txBody>
      </p:sp>
      <p:sp>
        <p:nvSpPr>
          <p:cNvPr id="20" name="Text 17"/>
          <p:cNvSpPr/>
          <p:nvPr/>
        </p:nvSpPr>
        <p:spPr>
          <a:xfrm>
            <a:off x="960120" y="4142232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UI06</a:t>
            </a:r>
            <a:endParaRPr lang="es-GT" sz="900" noProof="0" dirty="0"/>
          </a:p>
        </p:txBody>
      </p:sp>
      <p:sp>
        <p:nvSpPr>
          <p:cNvPr id="21" name="Text 18"/>
          <p:cNvSpPr/>
          <p:nvPr/>
        </p:nvSpPr>
        <p:spPr>
          <a:xfrm>
            <a:off x="1719072" y="418795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Persistencia</a:t>
            </a:r>
            <a:endParaRPr lang="es-GT" sz="900" noProof="0" dirty="0"/>
          </a:p>
        </p:txBody>
      </p:sp>
      <p:sp>
        <p:nvSpPr>
          <p:cNvPr id="22" name="Text 19"/>
          <p:cNvSpPr/>
          <p:nvPr/>
        </p:nvSpPr>
        <p:spPr>
          <a:xfrm>
            <a:off x="960120" y="4480560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UI07</a:t>
            </a:r>
            <a:endParaRPr lang="es-GT" sz="900" noProof="0" dirty="0"/>
          </a:p>
        </p:txBody>
      </p:sp>
      <p:sp>
        <p:nvSpPr>
          <p:cNvPr id="23" name="Text 20"/>
          <p:cNvSpPr/>
          <p:nvPr/>
        </p:nvSpPr>
        <p:spPr>
          <a:xfrm>
            <a:off x="1719072" y="4526280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sin sesión</a:t>
            </a:r>
            <a:endParaRPr lang="es-GT" sz="900" noProof="0" dirty="0"/>
          </a:p>
        </p:txBody>
      </p:sp>
      <p:sp>
        <p:nvSpPr>
          <p:cNvPr id="24" name="Text 21"/>
          <p:cNvSpPr/>
          <p:nvPr/>
        </p:nvSpPr>
        <p:spPr>
          <a:xfrm>
            <a:off x="960120" y="4818888"/>
            <a:ext cx="621792" cy="29260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s-GT" sz="900" b="1" noProof="0" dirty="0">
                <a:solidFill>
                  <a:srgbClr val="0866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UI08</a:t>
            </a:r>
            <a:endParaRPr lang="es-GT" sz="900" noProof="0" dirty="0"/>
          </a:p>
        </p:txBody>
      </p:sp>
      <p:sp>
        <p:nvSpPr>
          <p:cNvPr id="25" name="Text 22"/>
          <p:cNvSpPr/>
          <p:nvPr/>
        </p:nvSpPr>
        <p:spPr>
          <a:xfrm>
            <a:off x="1719072" y="486460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900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con sesión</a:t>
            </a:r>
            <a:endParaRPr lang="es-GT" sz="900" noProof="0" dirty="0"/>
          </a:p>
        </p:txBody>
      </p:sp>
      <p:sp>
        <p:nvSpPr>
          <p:cNvPr id="26" name="Shape 23"/>
          <p:cNvSpPr/>
          <p:nvPr/>
        </p:nvSpPr>
        <p:spPr>
          <a:xfrm>
            <a:off x="6720840" y="169164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5F6"/>
            </a:solidFill>
            <a:prstDash val="solid"/>
          </a:ln>
          <a:effectLst>
            <a:outerShdw blurRad="12700" dist="50800" dir="2700000" algn="bl" rotWithShape="0">
              <a:srgbClr val="DAE5F5">
                <a:alpha val="22000"/>
              </a:srgbClr>
            </a:outerShdw>
          </a:effectLst>
        </p:spPr>
        <p:txBody>
          <a:bodyPr/>
          <a:lstStyle/>
          <a:p>
            <a:endParaRPr lang="es-GT" noProof="0" dirty="0"/>
          </a:p>
        </p:txBody>
      </p:sp>
      <p:sp>
        <p:nvSpPr>
          <p:cNvPr id="27" name="Text 24"/>
          <p:cNvSpPr/>
          <p:nvPr/>
        </p:nvSpPr>
        <p:spPr>
          <a:xfrm>
            <a:off x="6995160" y="19568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500" b="1" noProof="0" dirty="0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Rutina </a:t>
            </a:r>
            <a:r>
              <a:rPr lang="es-GT" sz="1500" b="1" noProof="0" dirty="0" err="1">
                <a:solidFill>
                  <a:srgbClr val="1018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</a:t>
            </a:r>
            <a:endParaRPr lang="es-GT" sz="1500" noProof="0" dirty="0"/>
          </a:p>
        </p:txBody>
      </p:sp>
      <p:sp>
        <p:nvSpPr>
          <p:cNvPr id="28" name="Text 25"/>
          <p:cNvSpPr/>
          <p:nvPr/>
        </p:nvSpPr>
        <p:spPr>
          <a:xfrm>
            <a:off x="6995160" y="245059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</a:t>
            </a:r>
            <a:endParaRPr lang="es-GT" sz="900" noProof="0" dirty="0"/>
          </a:p>
        </p:txBody>
      </p:sp>
      <p:sp>
        <p:nvSpPr>
          <p:cNvPr id="29" name="Text 26"/>
          <p:cNvSpPr/>
          <p:nvPr/>
        </p:nvSpPr>
        <p:spPr>
          <a:xfrm>
            <a:off x="7296912" y="245059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Probar 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</a:t>
            </a: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prueba_conexion.php</a:t>
            </a:r>
            <a:endParaRPr lang="es-GT" sz="870" noProof="0" dirty="0"/>
          </a:p>
        </p:txBody>
      </p:sp>
      <p:sp>
        <p:nvSpPr>
          <p:cNvPr id="30" name="Text 27"/>
          <p:cNvSpPr/>
          <p:nvPr/>
        </p:nvSpPr>
        <p:spPr>
          <a:xfrm>
            <a:off x="6995160" y="2852928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</a:t>
            </a:r>
            <a:endParaRPr lang="es-GT" sz="900" noProof="0" dirty="0"/>
          </a:p>
        </p:txBody>
      </p:sp>
      <p:sp>
        <p:nvSpPr>
          <p:cNvPr id="31" name="Text 28"/>
          <p:cNvSpPr/>
          <p:nvPr/>
        </p:nvSpPr>
        <p:spPr>
          <a:xfrm>
            <a:off x="7296912" y="28529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cliente por api/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</a:t>
            </a: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/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registro.php</a:t>
            </a:r>
            <a:endParaRPr lang="es-GT" sz="870" noProof="0" dirty="0"/>
          </a:p>
        </p:txBody>
      </p:sp>
      <p:sp>
        <p:nvSpPr>
          <p:cNvPr id="32" name="Text 29"/>
          <p:cNvSpPr/>
          <p:nvPr/>
        </p:nvSpPr>
        <p:spPr>
          <a:xfrm>
            <a:off x="6995160" y="3255264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</a:t>
            </a:r>
            <a:endParaRPr lang="es-GT" sz="900" noProof="0" dirty="0"/>
          </a:p>
        </p:txBody>
      </p:sp>
      <p:sp>
        <p:nvSpPr>
          <p:cNvPr id="33" name="Text 30"/>
          <p:cNvSpPr/>
          <p:nvPr/>
        </p:nvSpPr>
        <p:spPr>
          <a:xfrm>
            <a:off x="7296912" y="32552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Iniciar sesión y consultar sesión</a:t>
            </a:r>
            <a:endParaRPr lang="es-GT" sz="870" noProof="0" dirty="0"/>
          </a:p>
        </p:txBody>
      </p:sp>
      <p:sp>
        <p:nvSpPr>
          <p:cNvPr id="34" name="Text 31"/>
          <p:cNvSpPr/>
          <p:nvPr/>
        </p:nvSpPr>
        <p:spPr>
          <a:xfrm>
            <a:off x="6995160" y="365760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4.</a:t>
            </a:r>
            <a:endParaRPr lang="es-GT" sz="900" noProof="0" dirty="0"/>
          </a:p>
        </p:txBody>
      </p:sp>
      <p:sp>
        <p:nvSpPr>
          <p:cNvPr id="35" name="Text 32"/>
          <p:cNvSpPr/>
          <p:nvPr/>
        </p:nvSpPr>
        <p:spPr>
          <a:xfrm>
            <a:off x="7296912" y="365760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Consultar api/productos/</a:t>
            </a:r>
            <a:endParaRPr lang="es-GT" sz="870" noProof="0" dirty="0"/>
          </a:p>
        </p:txBody>
      </p:sp>
      <p:sp>
        <p:nvSpPr>
          <p:cNvPr id="36" name="Text 33"/>
          <p:cNvSpPr/>
          <p:nvPr/>
        </p:nvSpPr>
        <p:spPr>
          <a:xfrm>
            <a:off x="6995160" y="4059936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5.</a:t>
            </a:r>
            <a:endParaRPr lang="es-GT" sz="900" noProof="0" dirty="0"/>
          </a:p>
        </p:txBody>
      </p:sp>
      <p:sp>
        <p:nvSpPr>
          <p:cNvPr id="37" name="Text 34"/>
          <p:cNvSpPr/>
          <p:nvPr/>
        </p:nvSpPr>
        <p:spPr>
          <a:xfrm>
            <a:off x="7296912" y="405993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Crear orden autenticada o 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endParaRPr lang="es-GT" sz="870" noProof="0" dirty="0"/>
          </a:p>
        </p:txBody>
      </p:sp>
      <p:sp>
        <p:nvSpPr>
          <p:cNvPr id="38" name="Text 35"/>
          <p:cNvSpPr/>
          <p:nvPr/>
        </p:nvSpPr>
        <p:spPr>
          <a:xfrm>
            <a:off x="6995160" y="4462272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9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</a:t>
            </a:r>
            <a:endParaRPr lang="es-GT" sz="900" noProof="0" dirty="0"/>
          </a:p>
        </p:txBody>
      </p:sp>
      <p:sp>
        <p:nvSpPr>
          <p:cNvPr id="39" name="Text 36"/>
          <p:cNvSpPr/>
          <p:nvPr/>
        </p:nvSpPr>
        <p:spPr>
          <a:xfrm>
            <a:off x="7296912" y="44622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Verificar Ordenes, </a:t>
            </a:r>
            <a:r>
              <a:rPr lang="es-GT" sz="87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DetalleOrdenes</a:t>
            </a:r>
            <a:r>
              <a:rPr lang="es-GT" sz="87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 inventario</a:t>
            </a:r>
            <a:endParaRPr lang="es-GT" sz="870" noProof="0" dirty="0"/>
          </a:p>
        </p:txBody>
      </p:sp>
      <p:sp>
        <p:nvSpPr>
          <p:cNvPr id="40" name="Shape 37"/>
          <p:cNvSpPr/>
          <p:nvPr/>
        </p:nvSpPr>
        <p:spPr>
          <a:xfrm>
            <a:off x="6995160" y="5120640"/>
            <a:ext cx="3886200" cy="384048"/>
          </a:xfrm>
          <a:prstGeom prst="roundRect">
            <a:avLst/>
          </a:prstGeom>
          <a:solidFill>
            <a:srgbClr val="071A3F"/>
          </a:solidFill>
          <a:ln w="12700">
            <a:solidFill>
              <a:srgbClr val="071A3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1" name="Text 38"/>
          <p:cNvSpPr/>
          <p:nvPr/>
        </p:nvSpPr>
        <p:spPr>
          <a:xfrm>
            <a:off x="7178040" y="5257800"/>
            <a:ext cx="3520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s-GT" sz="74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</a:t>
            </a:r>
            <a:r>
              <a:rPr lang="es-GT" sz="74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s-GT" sz="74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r>
              <a:rPr lang="es-GT" sz="74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</a:t>
            </a:r>
            <a:r>
              <a:rPr lang="es-GT" sz="740" b="1" noProof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 </a:t>
            </a:r>
            <a:r>
              <a:rPr lang="es-GT" sz="740" b="1" noProof="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</a:t>
            </a:r>
            <a:endParaRPr lang="es-GT" sz="740" noProof="0" dirty="0"/>
          </a:p>
        </p:txBody>
      </p:sp>
      <p:sp>
        <p:nvSpPr>
          <p:cNvPr id="43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44" name="Text 40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45" name="Text 41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Pruebas</a:t>
            </a:r>
            <a:endParaRPr lang="es-GT" sz="750" noProof="0" dirty="0"/>
          </a:p>
        </p:txBody>
      </p:sp>
      <p:sp>
        <p:nvSpPr>
          <p:cNvPr id="46" name="Text 42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s-GT" sz="8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20040"/>
            <a:ext cx="2194560" cy="2194560"/>
          </a:xfrm>
          <a:prstGeom prst="ellipse">
            <a:avLst/>
          </a:prstGeom>
          <a:solidFill>
            <a:srgbClr val="0866FF">
              <a:alpha val="70000"/>
            </a:srgbClr>
          </a:solidFill>
          <a:ln w="12700">
            <a:solidFill>
              <a:srgbClr val="0866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66751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6424" y="6858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4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</a:t>
            </a:r>
            <a:r>
              <a:rPr lang="es-GT" sz="1400" b="1" noProof="0" dirty="0" err="1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Aquí</a:t>
            </a:r>
            <a:endParaRPr lang="es-GT" sz="1400" noProof="0" dirty="0"/>
          </a:p>
        </p:txBody>
      </p:sp>
      <p:sp>
        <p:nvSpPr>
          <p:cNvPr id="5" name="Text 2"/>
          <p:cNvSpPr/>
          <p:nvPr/>
        </p:nvSpPr>
        <p:spPr>
          <a:xfrm>
            <a:off x="804672" y="1554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2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Cierre</a:t>
            </a:r>
            <a:endParaRPr lang="es-GT" sz="12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" y="1874520"/>
            <a:ext cx="74066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s-GT" sz="30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3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demuestra competencias </a:t>
            </a:r>
            <a:r>
              <a:rPr lang="es-GT" sz="30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FullStack</a:t>
            </a:r>
            <a:r>
              <a:rPr lang="es-GT" sz="30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desde la interfaz hasta </a:t>
            </a:r>
            <a:r>
              <a:rPr lang="es-GT" sz="3000" b="1" noProof="0" dirty="0" err="1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MariaDB</a:t>
            </a:r>
            <a:endParaRPr lang="es-GT" sz="3000" noProof="0" dirty="0"/>
          </a:p>
        </p:txBody>
      </p:sp>
      <p:sp>
        <p:nvSpPr>
          <p:cNvPr id="7" name="Text 4"/>
          <p:cNvSpPr/>
          <p:nvPr/>
        </p:nvSpPr>
        <p:spPr>
          <a:xfrm>
            <a:off x="804672" y="3127248"/>
            <a:ext cx="8586666" cy="301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400" noProof="0" dirty="0" err="1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Frontend</a:t>
            </a:r>
            <a:r>
              <a:rPr lang="es-GT" sz="1400" noProof="0" dirty="0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responsivo · API PHP · Seguridad · CRUD · </a:t>
            </a:r>
            <a:r>
              <a:rPr lang="es-GT" sz="1400" noProof="0" dirty="0" err="1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Checkout</a:t>
            </a:r>
            <a:r>
              <a:rPr lang="es-GT" sz="1400" noProof="0" dirty="0">
                <a:solidFill>
                  <a:srgbClr val="DDEB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Base de datos relacional · Modelo NoSQL para reseñas</a:t>
            </a:r>
            <a:endParaRPr lang="es-GT" sz="1400" noProof="0" dirty="0"/>
          </a:p>
        </p:txBody>
      </p:sp>
      <p:sp>
        <p:nvSpPr>
          <p:cNvPr id="8" name="Shape 5"/>
          <p:cNvSpPr/>
          <p:nvPr/>
        </p:nvSpPr>
        <p:spPr>
          <a:xfrm>
            <a:off x="822960" y="42519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9" name="Text 6"/>
          <p:cNvSpPr/>
          <p:nvPr/>
        </p:nvSpPr>
        <p:spPr>
          <a:xfrm>
            <a:off x="1024128" y="4507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4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s-GT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1481328" y="4480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s-GT" sz="115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Demostrar el flujo completo</a:t>
            </a:r>
            <a:endParaRPr lang="es-GT" sz="1150" noProof="0" dirty="0"/>
          </a:p>
        </p:txBody>
      </p:sp>
      <p:sp>
        <p:nvSpPr>
          <p:cNvPr id="11" name="Shape 8"/>
          <p:cNvSpPr/>
          <p:nvPr/>
        </p:nvSpPr>
        <p:spPr>
          <a:xfrm>
            <a:off x="4206240" y="42519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2" name="Text 9"/>
          <p:cNvSpPr/>
          <p:nvPr/>
        </p:nvSpPr>
        <p:spPr>
          <a:xfrm>
            <a:off x="4407408" y="4507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4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s-GT" sz="1400" noProof="0" dirty="0"/>
          </a:p>
        </p:txBody>
      </p:sp>
      <p:sp>
        <p:nvSpPr>
          <p:cNvPr id="13" name="Text 10"/>
          <p:cNvSpPr/>
          <p:nvPr/>
        </p:nvSpPr>
        <p:spPr>
          <a:xfrm>
            <a:off x="4864608" y="4480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15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Evidenciar base de datos</a:t>
            </a:r>
            <a:endParaRPr lang="es-GT" sz="1150" noProof="0" dirty="0"/>
          </a:p>
        </p:txBody>
      </p:sp>
      <p:sp>
        <p:nvSpPr>
          <p:cNvPr id="14" name="Shape 11"/>
          <p:cNvSpPr/>
          <p:nvPr/>
        </p:nvSpPr>
        <p:spPr>
          <a:xfrm>
            <a:off x="7589520" y="4251960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15" name="Text 12"/>
          <p:cNvSpPr/>
          <p:nvPr/>
        </p:nvSpPr>
        <p:spPr>
          <a:xfrm>
            <a:off x="7790688" y="450799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1400" b="1" noProof="0" dirty="0">
                <a:solidFill>
                  <a:srgbClr val="FF6A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s-GT" sz="1400" noProof="0" dirty="0"/>
          </a:p>
        </p:txBody>
      </p:sp>
      <p:sp>
        <p:nvSpPr>
          <p:cNvPr id="16" name="Text 13"/>
          <p:cNvSpPr/>
          <p:nvPr/>
        </p:nvSpPr>
        <p:spPr>
          <a:xfrm>
            <a:off x="8247888" y="4480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s-GT" sz="1150" b="1" noProof="0" dirty="0">
                <a:solidFill>
                  <a:srgbClr val="071A3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Demostración del sitio</a:t>
            </a:r>
            <a:endParaRPr lang="es-GT" sz="1150" noProof="0" dirty="0"/>
          </a:p>
        </p:txBody>
      </p:sp>
      <p:sp>
        <p:nvSpPr>
          <p:cNvPr id="17" name="Text 14"/>
          <p:cNvSpPr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1800" b="1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Gracias</a:t>
            </a:r>
            <a:endParaRPr lang="es-GT" sz="1800" noProof="0" dirty="0"/>
          </a:p>
        </p:txBody>
      </p:sp>
      <p:sp>
        <p:nvSpPr>
          <p:cNvPr id="18" name="Text 15"/>
          <p:cNvSpPr/>
          <p:nvPr/>
        </p:nvSpPr>
        <p:spPr>
          <a:xfrm>
            <a:off x="8275320" y="58795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GT" sz="1000" noProof="0" dirty="0">
                <a:solidFill>
                  <a:srgbClr val="CFE2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Oscar Ardon · Alba Gabriela Ortega</a:t>
            </a:r>
            <a:endParaRPr lang="es-GT" sz="1000" noProof="0" dirty="0"/>
          </a:p>
        </p:txBody>
      </p:sp>
      <p:sp>
        <p:nvSpPr>
          <p:cNvPr id="20" name="Shape 1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8890">
            <a:solidFill>
              <a:srgbClr val="D9E5F6"/>
            </a:solidFill>
            <a:prstDash val="solid"/>
          </a:ln>
        </p:spPr>
        <p:txBody>
          <a:bodyPr/>
          <a:lstStyle/>
          <a:p>
            <a:endParaRPr lang="es-GT" noProof="0" dirty="0"/>
          </a:p>
        </p:txBody>
      </p:sp>
      <p:sp>
        <p:nvSpPr>
          <p:cNvPr id="21" name="Text 17"/>
          <p:cNvSpPr/>
          <p:nvPr/>
        </p:nvSpPr>
        <p:spPr>
          <a:xfrm>
            <a:off x="502920" y="65105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GT" sz="750" noProof="0" dirty="0" err="1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TodoAquí</a:t>
            </a: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| Tecnología y compras en línea</a:t>
            </a:r>
            <a:endParaRPr lang="es-GT" sz="750" noProof="0" dirty="0"/>
          </a:p>
        </p:txBody>
      </p:sp>
      <p:sp>
        <p:nvSpPr>
          <p:cNvPr id="22" name="Text 18"/>
          <p:cNvSpPr/>
          <p:nvPr/>
        </p:nvSpPr>
        <p:spPr>
          <a:xfrm>
            <a:off x="4892040" y="65105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750" noProof="0" dirty="0">
                <a:solidFill>
                  <a:srgbClr val="6070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Cierre</a:t>
            </a:r>
            <a:endParaRPr lang="es-GT" sz="750" noProof="0" dirty="0"/>
          </a:p>
        </p:txBody>
      </p:sp>
      <p:sp>
        <p:nvSpPr>
          <p:cNvPr id="23" name="Text 19"/>
          <p:cNvSpPr/>
          <p:nvPr/>
        </p:nvSpPr>
        <p:spPr>
          <a:xfrm>
            <a:off x="11155680" y="6483096"/>
            <a:ext cx="502920" cy="228600"/>
          </a:xfrm>
          <a:prstGeom prst="rect">
            <a:avLst/>
          </a:prstGeom>
          <a:solidFill>
            <a:srgbClr val="0866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GT" sz="800" noProof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s-GT" sz="8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1989</Words>
  <Application>Microsoft Office PowerPoint</Application>
  <PresentationFormat>Panorámica</PresentationFormat>
  <Paragraphs>428</Paragraphs>
  <Slides>19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Consolas</vt:lpstr>
      <vt:lpstr>Manrope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INTECAP Centro 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TodoAquí | Presentación proyecto final</dc:title>
  <dc:subject>Presentación proyecto final TodoAquí</dc:subject>
  <dc:creator>Alba Gabriela Ortega / Oscar Estuardo Ardon Castillo</dc:creator>
  <cp:lastModifiedBy>Estuardo Ardón</cp:lastModifiedBy>
  <cp:revision>11</cp:revision>
  <dcterms:created xsi:type="dcterms:W3CDTF">2026-09-26T03:51:34Z</dcterms:created>
  <dcterms:modified xsi:type="dcterms:W3CDTF">2026-10-09T02:28:30Z</dcterms:modified>
</cp:coreProperties>
</file>